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  <p:sldMasterId id="2147483660" r:id="rId2"/>
    <p:sldMasterId id="2147483672" r:id="rId3"/>
  </p:sldMasterIdLst>
  <p:notesMasterIdLst>
    <p:notesMasterId r:id="rId44"/>
  </p:notesMasterIdLst>
  <p:sldIdLst>
    <p:sldId id="363" r:id="rId4"/>
    <p:sldId id="296" r:id="rId5"/>
    <p:sldId id="609" r:id="rId6"/>
    <p:sldId id="289" r:id="rId7"/>
    <p:sldId id="297" r:id="rId8"/>
    <p:sldId id="636" r:id="rId9"/>
    <p:sldId id="659" r:id="rId10"/>
    <p:sldId id="660" r:id="rId11"/>
    <p:sldId id="340" r:id="rId12"/>
    <p:sldId id="349" r:id="rId13"/>
    <p:sldId id="646" r:id="rId14"/>
    <p:sldId id="663" r:id="rId15"/>
    <p:sldId id="351" r:id="rId16"/>
    <p:sldId id="350" r:id="rId17"/>
    <p:sldId id="355" r:id="rId18"/>
    <p:sldId id="344" r:id="rId19"/>
    <p:sldId id="647" r:id="rId20"/>
    <p:sldId id="611" r:id="rId21"/>
    <p:sldId id="564" r:id="rId22"/>
    <p:sldId id="554" r:id="rId23"/>
    <p:sldId id="591" r:id="rId24"/>
    <p:sldId id="553" r:id="rId25"/>
    <p:sldId id="310" r:id="rId26"/>
    <p:sldId id="661" r:id="rId27"/>
    <p:sldId id="610" r:id="rId28"/>
    <p:sldId id="662" r:id="rId29"/>
    <p:sldId id="612" r:id="rId30"/>
    <p:sldId id="613" r:id="rId31"/>
    <p:sldId id="614" r:id="rId32"/>
    <p:sldId id="615" r:id="rId33"/>
    <p:sldId id="618" r:id="rId34"/>
    <p:sldId id="619" r:id="rId35"/>
    <p:sldId id="617" r:id="rId36"/>
    <p:sldId id="616" r:id="rId37"/>
    <p:sldId id="620" r:id="rId38"/>
    <p:sldId id="621" r:id="rId39"/>
    <p:sldId id="555" r:id="rId40"/>
    <p:sldId id="658" r:id="rId41"/>
    <p:sldId id="627" r:id="rId42"/>
    <p:sldId id="292" r:id="rId43"/>
  </p:sldIdLst>
  <p:sldSz cx="12192000" cy="6858000"/>
  <p:notesSz cx="6858000" cy="9144000"/>
  <p:embeddedFontLst>
    <p:embeddedFont>
      <p:font typeface="Fira Sans" panose="020B0503050000020004" pitchFamily="34" charset="0"/>
      <p:regular r:id="rId45"/>
      <p:bold r:id="rId46"/>
      <p:italic r:id="rId47"/>
      <p:boldItalic r:id="rId48"/>
    </p:embeddedFont>
    <p:embeddedFont>
      <p:font typeface="plusjakartasans" pitchFamily="2" charset="77"/>
      <p:regular r:id="rId49"/>
    </p:embeddedFont>
  </p:embeddedFontLst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073A0DAA-6AF3-43AB-8588-CEC1D06C72B9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7E7E7"/>
          </a:solidFill>
        </a:fill>
      </a:tcStyle>
    </a:wholeTbl>
    <a:band1H>
      <a:tcStyle>
        <a:tcBdr/>
        <a:fill>
          <a:solidFill>
            <a:srgbClr val="CBCBCB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BCBCB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000000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000000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000000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000000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80"/>
    <p:restoredTop sz="94490"/>
  </p:normalViewPr>
  <p:slideViewPr>
    <p:cSldViewPr snapToGrid="0">
      <p:cViewPr varScale="1">
        <p:scale>
          <a:sx n="119" d="100"/>
          <a:sy n="119" d="100"/>
        </p:scale>
        <p:origin x="376" y="192"/>
      </p:cViewPr>
      <p:guideLst/>
    </p:cSldViewPr>
  </p:slideViewPr>
  <p:outlineViewPr>
    <p:cViewPr>
      <p:scale>
        <a:sx n="33" d="100"/>
        <a:sy n="33" d="100"/>
      </p:scale>
      <p:origin x="0" y="-1616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font" Target="fonts/font3.fntdata"/><Relationship Id="rId50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font" Target="fonts/font1.fntdata"/><Relationship Id="rId53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notesMaster" Target="notesMasters/notesMaster1.xml"/><Relationship Id="rId52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font" Target="fonts/font4.fntdata"/><Relationship Id="rId8" Type="http://schemas.openxmlformats.org/officeDocument/2006/relationships/slide" Target="slides/slide5.xml"/><Relationship Id="rId51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font" Target="fonts/font2.fntdata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font" Target="fonts/font5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915D26-3383-4FD6-8141-2A4B46C51736}" type="doc">
      <dgm:prSet loTypeId="urn:microsoft.com/office/officeart/2005/8/layout/process1" loCatId="process" qsTypeId="urn:microsoft.com/office/officeart/2005/8/quickstyle/simple1" qsCatId="simple" csTypeId="urn:microsoft.com/office/officeart/2005/8/colors/accent0_1" csCatId="mainScheme" phldr="1"/>
      <dgm:spPr/>
    </dgm:pt>
    <dgm:pt modelId="{1A996FB7-E35D-4D7A-ADB0-E054376231A3}">
      <dgm:prSet phldrT="[Text]"/>
      <dgm:spPr/>
      <dgm:t>
        <a:bodyPr/>
        <a:lstStyle/>
        <a:p>
          <a:r>
            <a:rPr lang="en-US" dirty="0"/>
            <a:t>Bag-of-Words</a:t>
          </a:r>
        </a:p>
      </dgm:t>
    </dgm:pt>
    <dgm:pt modelId="{708A8300-0D1C-4817-8CC1-708528441512}" type="parTrans" cxnId="{80C9DC7A-B541-425A-B170-FF60CB5E6827}">
      <dgm:prSet/>
      <dgm:spPr/>
      <dgm:t>
        <a:bodyPr/>
        <a:lstStyle/>
        <a:p>
          <a:endParaRPr lang="en-US"/>
        </a:p>
      </dgm:t>
    </dgm:pt>
    <dgm:pt modelId="{06427DA7-9284-4A61-A78D-2DC7BD12672C}" type="sibTrans" cxnId="{80C9DC7A-B541-425A-B170-FF60CB5E6827}">
      <dgm:prSet/>
      <dgm:spPr/>
      <dgm:t>
        <a:bodyPr/>
        <a:lstStyle/>
        <a:p>
          <a:endParaRPr lang="en-US"/>
        </a:p>
      </dgm:t>
    </dgm:pt>
    <dgm:pt modelId="{86FAFA22-DE1C-481F-A594-A1E2D69BF795}">
      <dgm:prSet phldrT="[Text]"/>
      <dgm:spPr/>
      <dgm:t>
        <a:bodyPr/>
        <a:lstStyle/>
        <a:p>
          <a:r>
            <a:rPr lang="en-US" dirty="0"/>
            <a:t>Recurrent Neural Network</a:t>
          </a:r>
        </a:p>
      </dgm:t>
    </dgm:pt>
    <dgm:pt modelId="{7F362ACA-1797-470D-8ABA-0FC69336E9FE}" type="parTrans" cxnId="{17E289A6-B361-4D2A-B62C-8AF97FFB3ADB}">
      <dgm:prSet/>
      <dgm:spPr/>
      <dgm:t>
        <a:bodyPr/>
        <a:lstStyle/>
        <a:p>
          <a:endParaRPr lang="en-US"/>
        </a:p>
      </dgm:t>
    </dgm:pt>
    <dgm:pt modelId="{F575C30F-5FA3-460D-BF7C-7BEB3A9973B8}" type="sibTrans" cxnId="{17E289A6-B361-4D2A-B62C-8AF97FFB3ADB}">
      <dgm:prSet/>
      <dgm:spPr/>
      <dgm:t>
        <a:bodyPr/>
        <a:lstStyle/>
        <a:p>
          <a:endParaRPr lang="en-US"/>
        </a:p>
      </dgm:t>
    </dgm:pt>
    <dgm:pt modelId="{C78DD41C-C49B-4922-98EE-D2D4C97BBE07}">
      <dgm:prSet phldrT="[Text]"/>
      <dgm:spPr/>
      <dgm:t>
        <a:bodyPr/>
        <a:lstStyle/>
        <a:p>
          <a:r>
            <a:rPr lang="en-US" dirty="0"/>
            <a:t>LSTM</a:t>
          </a:r>
        </a:p>
      </dgm:t>
    </dgm:pt>
    <dgm:pt modelId="{8CB126B1-289E-4D8A-B741-8B4F1C2C1693}" type="parTrans" cxnId="{71F0CFBF-9512-4C93-ADF1-ECC563E2362C}">
      <dgm:prSet/>
      <dgm:spPr/>
      <dgm:t>
        <a:bodyPr/>
        <a:lstStyle/>
        <a:p>
          <a:endParaRPr lang="en-US"/>
        </a:p>
      </dgm:t>
    </dgm:pt>
    <dgm:pt modelId="{69548166-82B3-4BA7-9834-9D302ADEB9D9}" type="sibTrans" cxnId="{71F0CFBF-9512-4C93-ADF1-ECC563E2362C}">
      <dgm:prSet/>
      <dgm:spPr/>
      <dgm:t>
        <a:bodyPr/>
        <a:lstStyle/>
        <a:p>
          <a:endParaRPr lang="en-US"/>
        </a:p>
      </dgm:t>
    </dgm:pt>
    <dgm:pt modelId="{290E8D17-021B-4658-9916-A6168871E016}">
      <dgm:prSet/>
      <dgm:spPr/>
      <dgm:t>
        <a:bodyPr/>
        <a:lstStyle/>
        <a:p>
          <a:r>
            <a:rPr lang="en-US" dirty="0"/>
            <a:t>Transformer</a:t>
          </a:r>
        </a:p>
        <a:p>
          <a:r>
            <a:rPr lang="en-US" dirty="0"/>
            <a:t>(LLM)</a:t>
          </a:r>
        </a:p>
      </dgm:t>
    </dgm:pt>
    <dgm:pt modelId="{D59BD65F-F47B-4034-A8C5-81DB970FF4ED}" type="parTrans" cxnId="{5E300292-5D6F-4CE7-85AB-4EE9CE48559F}">
      <dgm:prSet/>
      <dgm:spPr/>
      <dgm:t>
        <a:bodyPr/>
        <a:lstStyle/>
        <a:p>
          <a:endParaRPr lang="en-US"/>
        </a:p>
      </dgm:t>
    </dgm:pt>
    <dgm:pt modelId="{BBDA4DFB-F227-4C90-B24A-64CF095759FB}" type="sibTrans" cxnId="{5E300292-5D6F-4CE7-85AB-4EE9CE48559F}">
      <dgm:prSet/>
      <dgm:spPr/>
      <dgm:t>
        <a:bodyPr/>
        <a:lstStyle/>
        <a:p>
          <a:endParaRPr lang="en-US"/>
        </a:p>
      </dgm:t>
    </dgm:pt>
    <dgm:pt modelId="{DBEDCE55-74B1-41AE-9ACF-588155FFF496}" type="pres">
      <dgm:prSet presAssocID="{42915D26-3383-4FD6-8141-2A4B46C51736}" presName="Name0" presStyleCnt="0">
        <dgm:presLayoutVars>
          <dgm:dir/>
          <dgm:resizeHandles val="exact"/>
        </dgm:presLayoutVars>
      </dgm:prSet>
      <dgm:spPr/>
    </dgm:pt>
    <dgm:pt modelId="{2BFE2C76-7DD1-4734-AD4E-E85511CBA797}" type="pres">
      <dgm:prSet presAssocID="{1A996FB7-E35D-4D7A-ADB0-E054376231A3}" presName="node" presStyleLbl="node1" presStyleIdx="0" presStyleCnt="4">
        <dgm:presLayoutVars>
          <dgm:bulletEnabled val="1"/>
        </dgm:presLayoutVars>
      </dgm:prSet>
      <dgm:spPr/>
    </dgm:pt>
    <dgm:pt modelId="{EEA25436-A7C9-4D01-A963-B0364E9EC8A0}" type="pres">
      <dgm:prSet presAssocID="{06427DA7-9284-4A61-A78D-2DC7BD12672C}" presName="sibTrans" presStyleLbl="sibTrans2D1" presStyleIdx="0" presStyleCnt="3"/>
      <dgm:spPr/>
    </dgm:pt>
    <dgm:pt modelId="{2D62E56F-777C-4462-B2AB-41EF1E21E3A9}" type="pres">
      <dgm:prSet presAssocID="{06427DA7-9284-4A61-A78D-2DC7BD12672C}" presName="connectorText" presStyleLbl="sibTrans2D1" presStyleIdx="0" presStyleCnt="3"/>
      <dgm:spPr/>
    </dgm:pt>
    <dgm:pt modelId="{7AB80776-E920-4C11-BFB3-9468CB795E5E}" type="pres">
      <dgm:prSet presAssocID="{86FAFA22-DE1C-481F-A594-A1E2D69BF795}" presName="node" presStyleLbl="node1" presStyleIdx="1" presStyleCnt="4">
        <dgm:presLayoutVars>
          <dgm:bulletEnabled val="1"/>
        </dgm:presLayoutVars>
      </dgm:prSet>
      <dgm:spPr/>
    </dgm:pt>
    <dgm:pt modelId="{0FCDF844-F541-41B2-938D-05720D7FA6E8}" type="pres">
      <dgm:prSet presAssocID="{F575C30F-5FA3-460D-BF7C-7BEB3A9973B8}" presName="sibTrans" presStyleLbl="sibTrans2D1" presStyleIdx="1" presStyleCnt="3"/>
      <dgm:spPr/>
    </dgm:pt>
    <dgm:pt modelId="{B2E20AEC-8B41-4EB7-9146-49CF13697318}" type="pres">
      <dgm:prSet presAssocID="{F575C30F-5FA3-460D-BF7C-7BEB3A9973B8}" presName="connectorText" presStyleLbl="sibTrans2D1" presStyleIdx="1" presStyleCnt="3"/>
      <dgm:spPr/>
    </dgm:pt>
    <dgm:pt modelId="{6EAD9D36-FFF0-4330-9F93-F29CD3A43285}" type="pres">
      <dgm:prSet presAssocID="{C78DD41C-C49B-4922-98EE-D2D4C97BBE07}" presName="node" presStyleLbl="node1" presStyleIdx="2" presStyleCnt="4">
        <dgm:presLayoutVars>
          <dgm:bulletEnabled val="1"/>
        </dgm:presLayoutVars>
      </dgm:prSet>
      <dgm:spPr/>
    </dgm:pt>
    <dgm:pt modelId="{5EBCA1F8-CA50-4A61-92DC-85791053B875}" type="pres">
      <dgm:prSet presAssocID="{69548166-82B3-4BA7-9834-9D302ADEB9D9}" presName="sibTrans" presStyleLbl="sibTrans2D1" presStyleIdx="2" presStyleCnt="3"/>
      <dgm:spPr/>
    </dgm:pt>
    <dgm:pt modelId="{EE3DC8E8-E133-4F8B-8D82-5ED906A7B6E8}" type="pres">
      <dgm:prSet presAssocID="{69548166-82B3-4BA7-9834-9D302ADEB9D9}" presName="connectorText" presStyleLbl="sibTrans2D1" presStyleIdx="2" presStyleCnt="3"/>
      <dgm:spPr/>
    </dgm:pt>
    <dgm:pt modelId="{6C3517BE-7828-43BC-9A57-28B4872699A0}" type="pres">
      <dgm:prSet presAssocID="{290E8D17-021B-4658-9916-A6168871E016}" presName="node" presStyleLbl="node1" presStyleIdx="3" presStyleCnt="4">
        <dgm:presLayoutVars>
          <dgm:bulletEnabled val="1"/>
        </dgm:presLayoutVars>
      </dgm:prSet>
      <dgm:spPr/>
    </dgm:pt>
  </dgm:ptLst>
  <dgm:cxnLst>
    <dgm:cxn modelId="{C69C4408-3508-4673-99EF-761A7E992BC2}" type="presOf" srcId="{1A996FB7-E35D-4D7A-ADB0-E054376231A3}" destId="{2BFE2C76-7DD1-4734-AD4E-E85511CBA797}" srcOrd="0" destOrd="0" presId="urn:microsoft.com/office/officeart/2005/8/layout/process1"/>
    <dgm:cxn modelId="{829DFC09-566B-4C8A-9635-3D306C7CD576}" type="presOf" srcId="{06427DA7-9284-4A61-A78D-2DC7BD12672C}" destId="{EEA25436-A7C9-4D01-A963-B0364E9EC8A0}" srcOrd="0" destOrd="0" presId="urn:microsoft.com/office/officeart/2005/8/layout/process1"/>
    <dgm:cxn modelId="{3EB9830D-13CE-4497-9657-58521DBF151F}" type="presOf" srcId="{06427DA7-9284-4A61-A78D-2DC7BD12672C}" destId="{2D62E56F-777C-4462-B2AB-41EF1E21E3A9}" srcOrd="1" destOrd="0" presId="urn:microsoft.com/office/officeart/2005/8/layout/process1"/>
    <dgm:cxn modelId="{DC777732-6D02-45BE-9870-E43242B70468}" type="presOf" srcId="{F575C30F-5FA3-460D-BF7C-7BEB3A9973B8}" destId="{0FCDF844-F541-41B2-938D-05720D7FA6E8}" srcOrd="0" destOrd="0" presId="urn:microsoft.com/office/officeart/2005/8/layout/process1"/>
    <dgm:cxn modelId="{E31BF63F-99DC-451F-834F-6BEA5DC8AEF9}" type="presOf" srcId="{69548166-82B3-4BA7-9834-9D302ADEB9D9}" destId="{EE3DC8E8-E133-4F8B-8D82-5ED906A7B6E8}" srcOrd="1" destOrd="0" presId="urn:microsoft.com/office/officeart/2005/8/layout/process1"/>
    <dgm:cxn modelId="{00F49144-014D-4B7F-A1AD-008C05AA0B53}" type="presOf" srcId="{290E8D17-021B-4658-9916-A6168871E016}" destId="{6C3517BE-7828-43BC-9A57-28B4872699A0}" srcOrd="0" destOrd="0" presId="urn:microsoft.com/office/officeart/2005/8/layout/process1"/>
    <dgm:cxn modelId="{DB4EBD45-0F96-4C96-8DA8-89DCB844FFE3}" type="presOf" srcId="{69548166-82B3-4BA7-9834-9D302ADEB9D9}" destId="{5EBCA1F8-CA50-4A61-92DC-85791053B875}" srcOrd="0" destOrd="0" presId="urn:microsoft.com/office/officeart/2005/8/layout/process1"/>
    <dgm:cxn modelId="{96393268-381A-4E73-905D-7D4C2D1F3923}" type="presOf" srcId="{F575C30F-5FA3-460D-BF7C-7BEB3A9973B8}" destId="{B2E20AEC-8B41-4EB7-9146-49CF13697318}" srcOrd="1" destOrd="0" presId="urn:microsoft.com/office/officeart/2005/8/layout/process1"/>
    <dgm:cxn modelId="{80C9DC7A-B541-425A-B170-FF60CB5E6827}" srcId="{42915D26-3383-4FD6-8141-2A4B46C51736}" destId="{1A996FB7-E35D-4D7A-ADB0-E054376231A3}" srcOrd="0" destOrd="0" parTransId="{708A8300-0D1C-4817-8CC1-708528441512}" sibTransId="{06427DA7-9284-4A61-A78D-2DC7BD12672C}"/>
    <dgm:cxn modelId="{2FFBBB83-802A-4FE2-918D-007B97D6B6D2}" type="presOf" srcId="{42915D26-3383-4FD6-8141-2A4B46C51736}" destId="{DBEDCE55-74B1-41AE-9ACF-588155FFF496}" srcOrd="0" destOrd="0" presId="urn:microsoft.com/office/officeart/2005/8/layout/process1"/>
    <dgm:cxn modelId="{5E300292-5D6F-4CE7-85AB-4EE9CE48559F}" srcId="{42915D26-3383-4FD6-8141-2A4B46C51736}" destId="{290E8D17-021B-4658-9916-A6168871E016}" srcOrd="3" destOrd="0" parTransId="{D59BD65F-F47B-4034-A8C5-81DB970FF4ED}" sibTransId="{BBDA4DFB-F227-4C90-B24A-64CF095759FB}"/>
    <dgm:cxn modelId="{A27D9E94-56F4-4E09-9056-5B40C982A0E4}" type="presOf" srcId="{86FAFA22-DE1C-481F-A594-A1E2D69BF795}" destId="{7AB80776-E920-4C11-BFB3-9468CB795E5E}" srcOrd="0" destOrd="0" presId="urn:microsoft.com/office/officeart/2005/8/layout/process1"/>
    <dgm:cxn modelId="{17E289A6-B361-4D2A-B62C-8AF97FFB3ADB}" srcId="{42915D26-3383-4FD6-8141-2A4B46C51736}" destId="{86FAFA22-DE1C-481F-A594-A1E2D69BF795}" srcOrd="1" destOrd="0" parTransId="{7F362ACA-1797-470D-8ABA-0FC69336E9FE}" sibTransId="{F575C30F-5FA3-460D-BF7C-7BEB3A9973B8}"/>
    <dgm:cxn modelId="{8809EEB5-AA9B-4136-8C0D-918DC149DCD7}" type="presOf" srcId="{C78DD41C-C49B-4922-98EE-D2D4C97BBE07}" destId="{6EAD9D36-FFF0-4330-9F93-F29CD3A43285}" srcOrd="0" destOrd="0" presId="urn:microsoft.com/office/officeart/2005/8/layout/process1"/>
    <dgm:cxn modelId="{71F0CFBF-9512-4C93-ADF1-ECC563E2362C}" srcId="{42915D26-3383-4FD6-8141-2A4B46C51736}" destId="{C78DD41C-C49B-4922-98EE-D2D4C97BBE07}" srcOrd="2" destOrd="0" parTransId="{8CB126B1-289E-4D8A-B741-8B4F1C2C1693}" sibTransId="{69548166-82B3-4BA7-9834-9D302ADEB9D9}"/>
    <dgm:cxn modelId="{84F6DDEF-964A-42DD-B5DC-144B8349F1D3}" type="presParOf" srcId="{DBEDCE55-74B1-41AE-9ACF-588155FFF496}" destId="{2BFE2C76-7DD1-4734-AD4E-E85511CBA797}" srcOrd="0" destOrd="0" presId="urn:microsoft.com/office/officeart/2005/8/layout/process1"/>
    <dgm:cxn modelId="{49D56596-2424-4F8F-BF11-4F877DE8A654}" type="presParOf" srcId="{DBEDCE55-74B1-41AE-9ACF-588155FFF496}" destId="{EEA25436-A7C9-4D01-A963-B0364E9EC8A0}" srcOrd="1" destOrd="0" presId="urn:microsoft.com/office/officeart/2005/8/layout/process1"/>
    <dgm:cxn modelId="{BFF78140-7959-4992-BAE3-EBD36E8BB42A}" type="presParOf" srcId="{EEA25436-A7C9-4D01-A963-B0364E9EC8A0}" destId="{2D62E56F-777C-4462-B2AB-41EF1E21E3A9}" srcOrd="0" destOrd="0" presId="urn:microsoft.com/office/officeart/2005/8/layout/process1"/>
    <dgm:cxn modelId="{647967DE-08D2-4EAD-8FD6-C3D08E12D6F1}" type="presParOf" srcId="{DBEDCE55-74B1-41AE-9ACF-588155FFF496}" destId="{7AB80776-E920-4C11-BFB3-9468CB795E5E}" srcOrd="2" destOrd="0" presId="urn:microsoft.com/office/officeart/2005/8/layout/process1"/>
    <dgm:cxn modelId="{337F7F55-9BE8-47CD-BB86-2E0FD61168D7}" type="presParOf" srcId="{DBEDCE55-74B1-41AE-9ACF-588155FFF496}" destId="{0FCDF844-F541-41B2-938D-05720D7FA6E8}" srcOrd="3" destOrd="0" presId="urn:microsoft.com/office/officeart/2005/8/layout/process1"/>
    <dgm:cxn modelId="{83950865-6DF2-4DEF-B93D-E83744A698DA}" type="presParOf" srcId="{0FCDF844-F541-41B2-938D-05720D7FA6E8}" destId="{B2E20AEC-8B41-4EB7-9146-49CF13697318}" srcOrd="0" destOrd="0" presId="urn:microsoft.com/office/officeart/2005/8/layout/process1"/>
    <dgm:cxn modelId="{E3BF2D58-64D3-4D85-AC3F-6C4B408C57B0}" type="presParOf" srcId="{DBEDCE55-74B1-41AE-9ACF-588155FFF496}" destId="{6EAD9D36-FFF0-4330-9F93-F29CD3A43285}" srcOrd="4" destOrd="0" presId="urn:microsoft.com/office/officeart/2005/8/layout/process1"/>
    <dgm:cxn modelId="{78609A03-1A33-4DF9-9954-8B1E0FB3B46B}" type="presParOf" srcId="{DBEDCE55-74B1-41AE-9ACF-588155FFF496}" destId="{5EBCA1F8-CA50-4A61-92DC-85791053B875}" srcOrd="5" destOrd="0" presId="urn:microsoft.com/office/officeart/2005/8/layout/process1"/>
    <dgm:cxn modelId="{300A7E47-C6C1-4593-BBBE-5F9B71301F98}" type="presParOf" srcId="{5EBCA1F8-CA50-4A61-92DC-85791053B875}" destId="{EE3DC8E8-E133-4F8B-8D82-5ED906A7B6E8}" srcOrd="0" destOrd="0" presId="urn:microsoft.com/office/officeart/2005/8/layout/process1"/>
    <dgm:cxn modelId="{AF91177D-E94B-4EF7-9852-7B8AB4C14B80}" type="presParOf" srcId="{DBEDCE55-74B1-41AE-9ACF-588155FFF496}" destId="{6C3517BE-7828-43BC-9A57-28B4872699A0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FE2C76-7DD1-4734-AD4E-E85511CBA797}">
      <dsp:nvSpPr>
        <dsp:cNvPr id="0" name=""/>
        <dsp:cNvSpPr/>
      </dsp:nvSpPr>
      <dsp:spPr>
        <a:xfrm>
          <a:off x="2707" y="597267"/>
          <a:ext cx="1183725" cy="81011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Bag-of-Words</a:t>
          </a:r>
        </a:p>
      </dsp:txBody>
      <dsp:txXfrm>
        <a:off x="26434" y="620994"/>
        <a:ext cx="1136271" cy="762658"/>
      </dsp:txXfrm>
    </dsp:sp>
    <dsp:sp modelId="{EEA25436-A7C9-4D01-A963-B0364E9EC8A0}">
      <dsp:nvSpPr>
        <dsp:cNvPr id="0" name=""/>
        <dsp:cNvSpPr/>
      </dsp:nvSpPr>
      <dsp:spPr>
        <a:xfrm>
          <a:off x="1304805" y="855541"/>
          <a:ext cx="250949" cy="293564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1304805" y="914254"/>
        <a:ext cx="175664" cy="176138"/>
      </dsp:txXfrm>
    </dsp:sp>
    <dsp:sp modelId="{7AB80776-E920-4C11-BFB3-9468CB795E5E}">
      <dsp:nvSpPr>
        <dsp:cNvPr id="0" name=""/>
        <dsp:cNvSpPr/>
      </dsp:nvSpPr>
      <dsp:spPr>
        <a:xfrm>
          <a:off x="1659923" y="597267"/>
          <a:ext cx="1183725" cy="81011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Recurrent Neural Network</a:t>
          </a:r>
        </a:p>
      </dsp:txBody>
      <dsp:txXfrm>
        <a:off x="1683650" y="620994"/>
        <a:ext cx="1136271" cy="762658"/>
      </dsp:txXfrm>
    </dsp:sp>
    <dsp:sp modelId="{0FCDF844-F541-41B2-938D-05720D7FA6E8}">
      <dsp:nvSpPr>
        <dsp:cNvPr id="0" name=""/>
        <dsp:cNvSpPr/>
      </dsp:nvSpPr>
      <dsp:spPr>
        <a:xfrm>
          <a:off x="2962021" y="855541"/>
          <a:ext cx="250949" cy="293564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962021" y="914254"/>
        <a:ext cx="175664" cy="176138"/>
      </dsp:txXfrm>
    </dsp:sp>
    <dsp:sp modelId="{6EAD9D36-FFF0-4330-9F93-F29CD3A43285}">
      <dsp:nvSpPr>
        <dsp:cNvPr id="0" name=""/>
        <dsp:cNvSpPr/>
      </dsp:nvSpPr>
      <dsp:spPr>
        <a:xfrm>
          <a:off x="3317139" y="597267"/>
          <a:ext cx="1183725" cy="81011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LSTM</a:t>
          </a:r>
        </a:p>
      </dsp:txBody>
      <dsp:txXfrm>
        <a:off x="3340866" y="620994"/>
        <a:ext cx="1136271" cy="762658"/>
      </dsp:txXfrm>
    </dsp:sp>
    <dsp:sp modelId="{5EBCA1F8-CA50-4A61-92DC-85791053B875}">
      <dsp:nvSpPr>
        <dsp:cNvPr id="0" name=""/>
        <dsp:cNvSpPr/>
      </dsp:nvSpPr>
      <dsp:spPr>
        <a:xfrm>
          <a:off x="4619238" y="855541"/>
          <a:ext cx="250949" cy="293564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4619238" y="914254"/>
        <a:ext cx="175664" cy="176138"/>
      </dsp:txXfrm>
    </dsp:sp>
    <dsp:sp modelId="{6C3517BE-7828-43BC-9A57-28B4872699A0}">
      <dsp:nvSpPr>
        <dsp:cNvPr id="0" name=""/>
        <dsp:cNvSpPr/>
      </dsp:nvSpPr>
      <dsp:spPr>
        <a:xfrm>
          <a:off x="4974355" y="597267"/>
          <a:ext cx="1183725" cy="81011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Transformer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(LLM)</a:t>
          </a:r>
        </a:p>
      </dsp:txBody>
      <dsp:txXfrm>
        <a:off x="4998082" y="620994"/>
        <a:ext cx="1136271" cy="7626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E9B76C6-9391-47F5-B15C-88D495FB9A95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E78B59-03DE-431C-A8FF-DF85B57B7C4E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4763329C-2BA7-49E5-9182-310C7B3CFD20}" type="datetime1">
              <a:rPr lang="en-GB"/>
              <a:pPr lvl="0"/>
              <a:t>16/07/2026</a:t>
            </a:fld>
            <a:endParaRPr lang="en-GB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4C8C93B-B35A-4A69-A8D0-6FC49D836A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CBC9F58-08E9-4159-929F-93022D6CD80D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7E029D-3528-48C5-B0FC-1AAD9EA7F59E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962000-2FE7-4DDD-8A7A-558DD2A3B88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D05D295E-7C44-4068-8D9B-DF3E542C293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11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BBD12-60E1-82F1-C95F-C5EBD4BBC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04957E-A740-E27F-96B6-87A8816B0C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8A42F1-32A7-1A7A-8229-1CAF0BAA47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plusjakartasans"/>
              </a:rPr>
              <a:t>Video by Google DeepMind from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plusjakartasans"/>
              </a:rPr>
              <a:t>Pexels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plusjakartasans"/>
              </a:rPr>
              <a:t>: https://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plusjakartasans"/>
              </a:rPr>
              <a:t>www.pexels.com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plusjakartasans"/>
              </a:rPr>
              <a:t>/video/an-artist-s-animation-of-artificial-intelligence-ai-this-video-depicts-language-models-which-generate-text-it-was-created-by-wes-cockx-as-part-of-the-visualising-ai-project-launched-by-18069700/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4F6B9-BF93-77AB-1311-A4DB86A2BD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D05D295E-7C44-4068-8D9B-DF3E542C2932}" type="slidenum">
              <a:rPr lang="en-NL" smtClean="0"/>
              <a:t>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165200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FD4072C2-61A7-4011-81A8-90D25028E4C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2313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4072C2-61A7-4011-81A8-90D25028E4C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61390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FD4072C2-61A7-4011-81A8-90D25028E4C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661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FD4072C2-61A7-4011-81A8-90D25028E4C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433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FD4072C2-61A7-4011-81A8-90D25028E4C6}" type="slidenum">
              <a:rPr lang="en-NL" smtClean="0"/>
              <a:t>25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464510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FD4072C2-61A7-4011-81A8-90D25028E4C6}" type="slidenum">
              <a:rPr lang="en-NL" smtClean="0"/>
              <a:t>32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575810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FD4072C2-61A7-4011-81A8-90D25028E4C6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465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8D80A-44A1-4C0F-BB66-A39C94ED33C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3C879D-7728-462B-95B1-EFE1CE5AE19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79C82-C664-41A3-9A03-F8AEEFF708A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625CF59-7AF3-7943-90C0-B191EB35C4CE}" type="datetime1">
              <a:rPr lang="en-US" smtClean="0"/>
              <a:t>7/16/26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075F2-0696-450E-B2B4-85CD381B306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B0038-A6EE-483C-92EA-79532855C53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9C828A0-0C03-4B9F-B3A9-BCC2B3ABF0D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5229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8BD88-B94A-4541-8C5C-A8AF4B3760B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2822B-0950-412C-BBD5-CDB2FBD7E3FD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9B70E-267B-481B-B44A-A25020266DB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E60CF0E-A82D-294E-8D04-D93E532563E3}" type="datetime1">
              <a:rPr lang="en-US" smtClean="0"/>
              <a:t>7/16/26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03C20-E42A-46CD-B104-2E621447EB5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F5674-9BCD-4C45-AD65-085697B63FB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F52093B-0720-486A-B874-975A27BF69CF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8727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42721-4181-44B2-8539-FA620D5F1E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14B4EE-0F25-4BCD-88B5-0B333601C3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6D61B-680A-41D5-A857-C4E17D18E0B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B3B53CE-5A2A-F844-9981-C79E76FF4D2E}" type="datetime1">
              <a:rPr lang="en-US" smtClean="0"/>
              <a:t>7/16/26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3BB2C-2CCD-4FAD-A27E-43E943DAE1B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6CB00-6285-4FE4-AD52-EF7DB90C877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610F211-B40B-498F-9139-10E73BCB8378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5256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85AEE-3893-47F5-A340-63BC8BBC1BE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F9721-EB2F-4AAC-B701-6C8033E8C03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A27996-368A-470E-8F81-D3FFD8388BFD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93693-3873-4A65-BEF0-9D7898BC1C6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6E1885D-B45B-B943-8CF2-E7FEA29D956A}" type="datetime1">
              <a:rPr lang="en-US" smtClean="0"/>
              <a:t>7/16/26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5E55E4-8198-4281-B5C5-1C7EBA90EB8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1A2613-DF15-4441-87A3-7C1B1F6E203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6694869-6021-48AD-806B-CBDCFDD0376D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3367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148B8-03F2-4015-B31D-6DB809FB48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64A66-0F1B-4B26-A4A7-87D6B7792B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CF8E92-36F7-47F2-83E8-564F50FCEB2E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EA68EF-7BCF-4206-8256-282210FDB3C7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D5DD01-8429-41E6-B389-84E967C78335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DADD44-DF59-418D-A10C-00A423E78B0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0E7CF9F-56F6-0B46-84D4-2C06798C92FC}" type="datetime1">
              <a:rPr lang="en-US" smtClean="0"/>
              <a:t>7/16/26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870903-5D2F-4ACF-AB5B-CC781AF6C3E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0CCF1F-A0CC-4DB9-A532-46BA9E40F34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03E364D-F3BC-4851-8059-F4473CA00C37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3845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D3460-F399-4A6D-A8EE-84FA401BC0A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479D9F-EC74-4E40-A4C5-BE1FA82AF10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5A7CE4B-6FBE-E443-94EE-4C0B29407480}" type="datetime1">
              <a:rPr lang="en-US" smtClean="0"/>
              <a:t>7/16/26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2FCA65-2E43-4EB6-AF4D-2A81755E404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56000F-FD03-41DF-92C2-F14D55AD56E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0A119AC-B999-4A1C-8949-5098AD927FA7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7771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697CBB-778D-4A80-AB15-C22A9BC70BB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79B14E5-2DB8-7745-9D68-620813C87DF8}" type="datetime1">
              <a:rPr lang="en-US" smtClean="0"/>
              <a:t>7/16/26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721211-F070-47BA-AB69-B3E3F1CBBE3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492FE-9FE1-45BF-B049-A55EF97A5A0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F91B0E5-DCF5-4DA9-8255-5A0817CC5477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0181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D1371-24E6-4AC7-8E65-E21DA1260D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4EF76-A80E-4B3C-8914-A07036D0E5B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2E51DB-98B7-4C45-A3D2-65F37EC32EB5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CB0D35-F423-4444-87A4-0D3D64587BA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8BE8273-5E7A-4540-A0E2-D1C5C6C12AC1}" type="datetime1">
              <a:rPr lang="en-US" smtClean="0"/>
              <a:t>7/16/26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56B62-D953-4965-BCEE-687DBBF22E3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E68670-6116-409B-BC26-B31CB68564E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B7CD89E-0E57-471A-8BDA-A9FF1DEF61D3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4013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4C584-A1B9-4714-B823-7285064F0A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590423-2C65-4625-9884-89695D6E90B6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GB" sz="3200"/>
            </a:lvl1pPr>
          </a:lstStyle>
          <a:p>
            <a:pPr lvl="0"/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4F5F55-7EC4-40BB-A227-CC2BEA219B15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71E441-D2BD-43FB-BCB5-D3083DA78F0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7357B6F-212A-A54E-945B-379DEA9E7973}" type="datetime1">
              <a:rPr lang="en-US" smtClean="0"/>
              <a:t>7/16/26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62B29-718C-4B1B-9446-D423E4453D8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7B1E85-EFE2-486F-AF8A-D7548780B89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3687116-E12F-41F9-B947-2FC22B11FABA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0536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D3828-06E4-43B4-8A52-FE51E602BBD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2028F0-2909-4A7C-BEE9-81BACFEF3825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94EB9-68A9-4F3A-8BE4-ACF30555BAD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4C277A3-4E62-724D-9B87-00AEE23AD320}" type="datetime1">
              <a:rPr lang="en-US" smtClean="0"/>
              <a:t>7/16/26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2A862-92FC-4FE3-81BF-70AD9913777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57E3B-6E3E-4955-A430-7ABF182E015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CC2B209-914C-44E0-A84A-A3B9B7972676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7632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CACFC1-33AA-4003-9248-5DCEC20DA44E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5B8264-701F-48AA-9BBE-84C82F575B2D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84980-ACEE-41FF-8426-01F4429BDE2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67E4FA7-0ED4-B942-A31A-92981F529461}" type="datetime1">
              <a:rPr lang="en-US" smtClean="0"/>
              <a:t>7/16/26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2712A-B571-4B4B-9D68-AF1BC94AB5F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F864C-EBA4-476B-BDB3-764BF3EE603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4A469CE-38CA-4F3C-8432-6C4CA131A898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1881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33540-B32D-46D3-8A00-AC8948711CE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269567-F111-47AE-872D-2CFF051B605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3C000-A2E4-4F21-BFDA-30B3CB211ED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FF3DDB2-489C-4BD1-B83F-A0852E3E0A02}" type="datetime1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3F97F-4B2A-4920-A849-387B61F5B92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CC54A-FB31-44A8-8692-2F0A1070466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1B9929F-084D-4E07-ACED-BED149780FD0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07451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A80C4-B5E2-46DC-ADC0-D6C557EC958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68E1A-522F-4D6F-860D-C8047D74E38A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47576-2994-42F5-AA45-C0D455651C2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2283809-6AD2-4C5E-BF6F-CFC16DE21BB3}" type="datetime1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9E8E3-CAFB-4C04-9B1A-AA7F6E36BB9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E07C4-0230-4131-AC81-D9A06668702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29C6A3C-F0DE-4587-B6A6-8E7EE78CBA88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65550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F824A-05C5-4F78-BD21-1605B7FD72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CC134A-D0E5-4A39-92B5-7734670FBD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FCF32-2B36-4AA2-8E0D-4B25DE0DFE5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5D00E9F-93C8-4C72-BED4-5722B0DB4595}" type="datetime1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9D001-46B6-498C-A127-096E8E36EE4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CA5A3-958C-4DF8-BB35-1FE5BCC5318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0B6D386-3FA7-4CC8-B32B-C4D73DDCC5DC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07127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02DE1-CAB8-4ABA-8F3B-B0471A4962B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BFEBA-FABD-4A22-99B7-F6732EBE2E7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36175-3FE7-49EF-A0DA-CDD1501475E3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C76EE0-CF86-4E3E-B1AB-D880EE061BB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F4BA527-6D3E-4B85-BF3B-D0C19630C618}" type="datetime1">
              <a:rPr lang="en-GB" smtClean="0"/>
              <a:t>16/07/2026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D7BDC1-4FF2-42AC-8F6D-DFD9310B333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064C9A-8708-4E6F-9E45-820BC2E98AE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AF393FD-3DF8-42A5-A8FA-A2BF771A37E3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26418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A4D1E-CDD8-40B0-8055-433F1CDFE2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423DB5-474F-4F7F-86B8-462E7571A7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A7EADC-8ACC-47D1-A0CC-53E314C5013F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2531E8-EB75-428F-ACAF-D019895796E0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CC596C-DE5E-4BA0-8BD9-E0555E4DB520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28B078-B553-4CC2-9691-9CA862EF476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7A9EB70-316F-4ED1-A550-B56831254673}" type="datetime1">
              <a:rPr lang="en-GB" smtClean="0"/>
              <a:t>16/07/2026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6111F6-7239-4273-A090-67FDD2D97E3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B007E5-88A4-4C84-9A6B-BA27790EC03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24BEE48-1C25-40B6-AE13-9BE115420C05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49747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775EA-C5BB-49E3-A7CB-3CDF5692E44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026EA4-C3DB-4EBB-9B75-37F28C227BD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2BA3858-3D31-477F-AF1D-891678E2DA90}" type="datetime1">
              <a:rPr lang="en-GB" smtClean="0"/>
              <a:t>16/07/2026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CD739B-620B-4FC7-8C7C-436452377E7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5C5685-31DB-4D15-A371-92CB77CB975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62D5E88-FC20-4906-A394-9A34973A1498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07331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3E9D22-4F00-4EE0-B7B0-422A8BD80F7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882CC21-44EB-477F-85CB-F868CD91A10B}" type="datetime1">
              <a:rPr lang="en-GB" smtClean="0"/>
              <a:t>16/07/2026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052F5F-3A4D-49DA-9207-47165B44C00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782FC-5AF5-4376-A793-DFD8C88F0C1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84ACD8D-4760-40C1-A03F-2AB959AC94D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97787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55227-3650-4BE5-928E-B8F065EEA7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882FD-96C7-458F-B658-355287FE77A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C9504B-4CF0-4F23-9961-1B6EA9DA90E2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AF869E-68A4-4740-869B-FF45DFCCB34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6A7AC2E-8C15-4223-89AD-F6D8608250DF}" type="datetime1">
              <a:rPr lang="en-GB" smtClean="0"/>
              <a:t>16/07/2026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A7771-215E-4C76-A2A8-2ED7AD2682F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9D1387-4226-4FDF-91FF-F320AC9B9AD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465267D-83F7-4B9F-BBD4-9A4596A6A630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98827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B0ACC-BF7D-4F50-9C92-D7737697E9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C85E16-9FCC-4D42-89FD-B4B663DBF2AC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GB" sz="3200"/>
            </a:lvl1pPr>
          </a:lstStyle>
          <a:p>
            <a:pPr lvl="0"/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52121-155B-4DAF-BBBD-B10A86F3DB44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72D9F2-865D-41A7-A136-E02DD60A9F6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3773FD3-41FC-4DF8-87F2-43FD96DC51F8}" type="datetime1">
              <a:rPr lang="en-GB" smtClean="0"/>
              <a:t>16/07/2026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CEED4B-F2B8-44D8-A31B-C48F01E4F46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A8D40-9E49-44F7-8F5D-59740800C3B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348D8A2-74D8-442D-94C6-6912883BE7D6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07932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66F42-F256-4D34-85D3-0E65D07A19C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DC3520-607E-4D7D-8917-F602459E29DF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D9E15-154B-4753-AD3D-2453AD9B1C8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6B7A7D5-9265-4611-80D0-13F5DF559424}" type="datetime1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8E49F-2407-4872-BBE9-9F94721E392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29EE0-5C82-4BC2-B69D-DEED5FE44C5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78320DF-69DC-4D5D-BA7C-727CD9A1572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94596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5294B2-FD52-4021-968C-126C9430674B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C47CAD-1132-4AEF-A919-14BEF0CD207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A049A-0302-482F-91D1-C051B829918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CC6BE3E-9BF9-4157-AF0F-5884EB656AEE}" type="datetime1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A094E-A02F-4B22-AB90-9AB6592C0E7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AFEBE-D085-4598-AE2B-AA774741BA5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FF4BC80-48B4-4EAB-AAEB-9F4F8AD0735F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92590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33540-B32D-46D3-8A00-AC8948711CE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269567-F111-47AE-872D-2CFF051B605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3C000-A2E4-4F21-BFDA-30B3CB211ED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052EB6F-F01A-4C7F-8837-494AA6F5600D}" type="datetime1">
              <a:rPr lang="en-GB"/>
              <a:pPr lvl="0"/>
              <a:t>16/07/2026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3F97F-4B2A-4920-A849-387B61F5B92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CC54A-FB31-44A8-8692-2F0A1070466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1B9929F-084D-4E07-ACED-BED149780FD0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609962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A80C4-B5E2-46DC-ADC0-D6C557EC958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68E1A-522F-4D6F-860D-C8047D74E38A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47576-2994-42F5-AA45-C0D455651C2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841FCA5-6C9D-48F9-858C-EAF4952FFB00}" type="datetime1">
              <a:rPr lang="en-GB"/>
              <a:pPr lvl="0"/>
              <a:t>16/07/2026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9E8E3-CAFB-4C04-9B1A-AA7F6E36BB9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E07C4-0230-4131-AC81-D9A06668702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29C6A3C-F0DE-4587-B6A6-8E7EE78CBA88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614071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F824A-05C5-4F78-BD21-1605B7FD72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CC134A-D0E5-4A39-92B5-7734670FBD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FCF32-2B36-4AA2-8E0D-4B25DE0DFE5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39E7514-152E-4C65-9651-D19642D7E55C}" type="datetime1">
              <a:rPr lang="en-GB"/>
              <a:pPr lvl="0"/>
              <a:t>16/07/2026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9D001-46B6-498C-A127-096E8E36EE4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CA5A3-958C-4DF8-BB35-1FE5BCC5318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0B6D386-3FA7-4CC8-B32B-C4D73DDCC5DC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85049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02DE1-CAB8-4ABA-8F3B-B0471A4962B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BFEBA-FABD-4A22-99B7-F6732EBE2E7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36175-3FE7-49EF-A0DA-CDD1501475E3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C76EE0-CF86-4E3E-B1AB-D880EE061BB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32B03DF-B078-440C-ABC1-115D1F362B78}" type="datetime1">
              <a:rPr lang="en-GB"/>
              <a:pPr lvl="0"/>
              <a:t>16/07/2026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D7BDC1-4FF2-42AC-8F6D-DFD9310B333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064C9A-8708-4E6F-9E45-820BC2E98AE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AF393FD-3DF8-42A5-A8FA-A2BF771A37E3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84496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A4D1E-CDD8-40B0-8055-433F1CDFE2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423DB5-474F-4F7F-86B8-462E7571A7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A7EADC-8ACC-47D1-A0CC-53E314C5013F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2531E8-EB75-428F-ACAF-D019895796E0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CC596C-DE5E-4BA0-8BD9-E0555E4DB520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28B078-B553-4CC2-9691-9CA862EF476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3948724-37EA-469B-8ACD-BD155539800E}" type="datetime1">
              <a:rPr lang="en-GB"/>
              <a:pPr lvl="0"/>
              <a:t>16/07/2026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6111F6-7239-4273-A090-67FDD2D97E3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B007E5-88A4-4C84-9A6B-BA27790EC03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24BEE48-1C25-40B6-AE13-9BE115420C05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81106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775EA-C5BB-49E3-A7CB-3CDF5692E44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026EA4-C3DB-4EBB-9B75-37F28C227BD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9A18A16-F1AD-4500-8ABF-A49673BC476C}" type="datetime1">
              <a:rPr lang="en-GB"/>
              <a:pPr lvl="0"/>
              <a:t>16/07/2026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CD739B-620B-4FC7-8C7C-436452377E7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5C5685-31DB-4D15-A371-92CB77CB975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62D5E88-FC20-4906-A394-9A34973A1498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648545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3E9D22-4F00-4EE0-B7B0-422A8BD80F7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CB92B84-8FAE-43D9-8D8A-6E4BE2F733B6}" type="datetime1">
              <a:rPr lang="en-GB"/>
              <a:pPr lvl="0"/>
              <a:t>16/07/2026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052F5F-3A4D-49DA-9207-47165B44C00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782FC-5AF5-4376-A793-DFD8C88F0C1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84ACD8D-4760-40C1-A03F-2AB959AC94D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86328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55227-3650-4BE5-928E-B8F065EEA7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882FD-96C7-458F-B658-355287FE77A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C9504B-4CF0-4F23-9961-1B6EA9DA90E2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AF869E-68A4-4740-869B-FF45DFCCB34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127A4E3-BE7C-4F18-BDF9-48672C247F0A}" type="datetime1">
              <a:rPr lang="en-GB"/>
              <a:pPr lvl="0"/>
              <a:t>16/07/2026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A7771-215E-4C76-A2A8-2ED7AD2682F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9D1387-4226-4FDF-91FF-F320AC9B9AD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465267D-83F7-4B9F-BBD4-9A4596A6A630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57124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B0ACC-BF7D-4F50-9C92-D7737697E9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C85E16-9FCC-4D42-89FD-B4B663DBF2AC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GB" sz="3200"/>
            </a:lvl1pPr>
          </a:lstStyle>
          <a:p>
            <a:pPr lvl="0"/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52121-155B-4DAF-BBBD-B10A86F3DB44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72D9F2-865D-41A7-A136-E02DD60A9F6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BE98F98-FAC1-4257-AE64-62F41D2CE614}" type="datetime1">
              <a:rPr lang="en-GB"/>
              <a:pPr lvl="0"/>
              <a:t>16/07/2026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CEED4B-F2B8-44D8-A31B-C48F01E4F46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A8D40-9E49-44F7-8F5D-59740800C3B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348D8A2-74D8-442D-94C6-6912883BE7D6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01261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66F42-F256-4D34-85D3-0E65D07A19C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DC3520-607E-4D7D-8917-F602459E29DF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D9E15-154B-4753-AD3D-2453AD9B1C8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E92B8EF-51BF-451E-8853-3192661CB532}" type="datetime1">
              <a:rPr lang="en-GB"/>
              <a:pPr lvl="0"/>
              <a:t>16/07/2026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8E49F-2407-4872-BBE9-9F94721E392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29EE0-5C82-4BC2-B69D-DEED5FE44C5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78320DF-69DC-4D5D-BA7C-727CD9A1572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79358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5294B2-FD52-4021-968C-126C9430674B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C47CAD-1132-4AEF-A919-14BEF0CD207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A049A-0302-482F-91D1-C051B829918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34687C2-DC16-4038-9B1F-C825568F6269}" type="datetime1">
              <a:rPr lang="en-GB"/>
              <a:pPr lvl="0"/>
              <a:t>16/07/2026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A094E-A02F-4B22-AB90-9AB6592C0E7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AFEBE-D085-4598-AE2B-AA774741BA5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FF4BC80-48B4-4EAB-AAEB-9F4F8AD0735F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3160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5688BE-9522-44C2-9AAE-4954F81577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A41792-B1BB-4C3F-A720-955EB7695B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B45E8-E5CD-4042-8712-F84CFC563CB9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5D78143E-4D2A-1440-AAE2-B3E9E15A8A55}" type="datetime1">
              <a:rPr lang="en-US" smtClean="0"/>
              <a:t>7/16/26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A0F90-6A06-4C9D-8D79-77D2D24E2645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C6A3E-9AE2-440F-8B9B-1D45290E06F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5D06D67F-9490-484A-ACE9-09B0CE18427A}" type="slidenum"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910BCE-8C57-47C5-93D2-77A66D0D17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133111-9254-45A2-85C8-1D148F6658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623FE-8F58-4E7C-8ABA-EAFB89703381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D4BD6252-48BC-47C0-8C75-64B0DB852D04}" type="datetime1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AD92E-EB7F-4EDD-A8BA-6E41F7FA7EE2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07734-5447-4810-ABF9-4AD0CF8E5A0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73C4C76D-D1C5-4B7E-B9C9-BC66F5CDE924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4495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910BCE-8C57-47C5-93D2-77A66D0D17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133111-9254-45A2-85C8-1D148F6658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623FE-8F58-4E7C-8ABA-EAFB89703381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BB18FF1D-8D7C-4B61-8FC7-67D805AFEAF6}" type="datetime1">
              <a:rPr lang="en-GB"/>
              <a:pPr lvl="0"/>
              <a:t>16/07/2026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AD92E-EB7F-4EDD-A8BA-6E41F7FA7EE2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07734-5447-4810-ABF9-4AD0CF8E5A0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73C4C76D-D1C5-4B7E-B9C9-BC66F5CDE924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4823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16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17.png"/><Relationship Id="rId9" Type="http://schemas.microsoft.com/office/2007/relationships/diagramDrawing" Target="../diagrams/drawing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arxiv.org/pdf/2108.07258" TargetMode="Externa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2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18B2F-9A30-5C41-EF3A-22B103FF1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8">
            <a:extLst>
              <a:ext uri="{FF2B5EF4-FFF2-40B4-BE49-F238E27FC236}">
                <a16:creationId xmlns:a16="http://schemas.microsoft.com/office/drawing/2014/main" id="{B378940E-4BC0-406C-23CC-826FC7047343}"/>
              </a:ext>
            </a:extLst>
          </p:cNvPr>
          <p:cNvSpPr txBox="1"/>
          <p:nvPr/>
        </p:nvSpPr>
        <p:spPr>
          <a:xfrm>
            <a:off x="1258433" y="1680100"/>
            <a:ext cx="6365475" cy="249299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5400" b="1" i="0" u="none" strike="noStrike" kern="1200" cap="none" spc="0" baseline="0" dirty="0">
                <a:solidFill>
                  <a:srgbClr val="006388"/>
                </a:solidFill>
                <a:uFillTx/>
                <a:latin typeface="Fira Sans" pitchFamily="34"/>
                <a:ea typeface="Fira Code" pitchFamily="49"/>
              </a:rPr>
              <a:t>Deep Learning &amp; LLMs 2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Fira Sans" pitchFamily="34"/>
                <a:ea typeface="Fira Code" pitchFamily="49"/>
              </a:rPr>
              <a:t>Applied Text Mining &amp; NLP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Fira Sans" pitchFamily="34"/>
                <a:ea typeface="Fira Code" pitchFamily="49"/>
              </a:rPr>
              <a:t>from Foundations to Advanced</a:t>
            </a:r>
          </a:p>
        </p:txBody>
      </p:sp>
      <p:sp>
        <p:nvSpPr>
          <p:cNvPr id="3" name="TextBox 15">
            <a:extLst>
              <a:ext uri="{FF2B5EF4-FFF2-40B4-BE49-F238E27FC236}">
                <a16:creationId xmlns:a16="http://schemas.microsoft.com/office/drawing/2014/main" id="{3A001E08-D51C-96FC-E1D8-D2FF6A763282}"/>
              </a:ext>
            </a:extLst>
          </p:cNvPr>
          <p:cNvSpPr txBox="1"/>
          <p:nvPr/>
        </p:nvSpPr>
        <p:spPr>
          <a:xfrm>
            <a:off x="1258433" y="5507239"/>
            <a:ext cx="7361779" cy="95410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800" b="0" i="1" u="none" strike="noStrike" kern="1200" cap="none" spc="0" baseline="0" dirty="0">
                <a:solidFill>
                  <a:srgbClr val="7F7F7F"/>
                </a:solidFill>
                <a:uFillTx/>
                <a:latin typeface="Fira Sans" pitchFamily="34"/>
              </a:rPr>
              <a:t>Robert Bagheri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800" i="1" dirty="0">
                <a:solidFill>
                  <a:srgbClr val="7F7F7F"/>
                </a:solidFill>
                <a:latin typeface="Fira Sans" pitchFamily="34"/>
              </a:rPr>
              <a:t>2026</a:t>
            </a:r>
            <a:endParaRPr lang="en-GB" sz="2800" b="0" i="1" u="none" strike="noStrike" kern="1200" cap="none" spc="0" baseline="0" dirty="0">
              <a:solidFill>
                <a:srgbClr val="7F7F7F"/>
              </a:solidFill>
              <a:uFillTx/>
              <a:latin typeface="Fira Sans" pitchFamily="34"/>
            </a:endParaRPr>
          </a:p>
        </p:txBody>
      </p:sp>
      <p:pic>
        <p:nvPicPr>
          <p:cNvPr id="6" name="18069700-hd_1080_1920_24fps.mp4">
            <a:hlinkClick r:id="" action="ppaction://media"/>
            <a:extLst>
              <a:ext uri="{FF2B5EF4-FFF2-40B4-BE49-F238E27FC236}">
                <a16:creationId xmlns:a16="http://schemas.microsoft.com/office/drawing/2014/main" id="{607FDD3C-4C4F-6232-2E55-939240E6E9A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34375" y="0"/>
            <a:ext cx="3857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311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This lecture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/>
          <a:lstStyle/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Neural networks 2</a:t>
            </a:r>
          </a:p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Convolutional neural networks</a:t>
            </a:r>
          </a:p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State-of-the-art methods</a:t>
            </a:r>
            <a:endParaRPr lang="en-GB" sz="3200" b="1" dirty="0">
              <a:solidFill>
                <a:srgbClr val="404040"/>
              </a:solidFill>
              <a:latin typeface="Fira Sans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4225517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87C44-1664-8C07-7392-D48EB4F32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08FD8-5529-C977-E875-BD3E07326B5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Text mining process</a:t>
            </a:r>
            <a:endParaRPr lang="en-GB" sz="1800" kern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BC9174-7481-66FE-E7F0-477866F0B407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29C6A3C-F0DE-4587-B6A6-8E7EE78CBA88}" type="slidenum">
              <a:rPr lang="en-US" smtClean="0"/>
              <a:t>3</a:t>
            </a:fld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B092884-3A5D-182D-5054-07D0ABD9B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0181" y="1355904"/>
            <a:ext cx="9291637" cy="5365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1976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3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C3136-3CE2-4372-9CD9-CAAA784CC7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2766215"/>
            <a:ext cx="10515600" cy="1325559"/>
          </a:xfrm>
        </p:spPr>
        <p:txBody>
          <a:bodyPr anchorCtr="1"/>
          <a:lstStyle/>
          <a:p>
            <a:pPr lvl="0" algn="ctr">
              <a:lnSpc>
                <a:spcPct val="100000"/>
              </a:lnSpc>
            </a:pPr>
            <a:r>
              <a:rPr lang="en-GB" sz="5400" b="1" kern="0" dirty="0">
                <a:solidFill>
                  <a:srgbClr val="FFFFFF"/>
                </a:solidFill>
                <a:latin typeface="Fira Sans" pitchFamily="34"/>
                <a:ea typeface="Fira Code" pitchFamily="49"/>
              </a:rPr>
              <a:t>Introduction</a:t>
            </a:r>
            <a:endParaRPr lang="en-GB" sz="1800" kern="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Why should we learn this?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GB" sz="3200" b="1" dirty="0">
                <a:solidFill>
                  <a:srgbClr val="404040"/>
                </a:solidFill>
                <a:latin typeface="Fira Sans" pitchFamily="34"/>
              </a:rPr>
              <a:t>State-of-the-art performance on various tasks</a:t>
            </a:r>
          </a:p>
          <a:p>
            <a:pPr lvl="1"/>
            <a:r>
              <a:rPr lang="en-GB" sz="2800" dirty="0">
                <a:solidFill>
                  <a:srgbClr val="404040"/>
                </a:solidFill>
                <a:latin typeface="Fira Sans" pitchFamily="34"/>
              </a:rPr>
              <a:t>Text prediction (your phone’s keyboard)</a:t>
            </a:r>
          </a:p>
          <a:p>
            <a:pPr lvl="1"/>
            <a:r>
              <a:rPr lang="en-GB" sz="2800" dirty="0">
                <a:solidFill>
                  <a:srgbClr val="404040"/>
                </a:solidFill>
                <a:latin typeface="Fira Sans" pitchFamily="34"/>
              </a:rPr>
              <a:t>Forecasting</a:t>
            </a:r>
          </a:p>
          <a:p>
            <a:pPr lvl="1"/>
            <a:r>
              <a:rPr lang="en-GB" sz="2800" dirty="0">
                <a:solidFill>
                  <a:srgbClr val="404040"/>
                </a:solidFill>
                <a:latin typeface="Fira Sans" pitchFamily="34"/>
              </a:rPr>
              <a:t>Spam filtering</a:t>
            </a:r>
          </a:p>
          <a:p>
            <a:pPr lvl="1"/>
            <a:r>
              <a:rPr lang="en-GB" sz="2800" dirty="0">
                <a:solidFill>
                  <a:srgbClr val="404040"/>
                </a:solidFill>
                <a:latin typeface="Fira Sans" pitchFamily="34"/>
              </a:rPr>
              <a:t>Compression (dimension reduction)</a:t>
            </a:r>
          </a:p>
          <a:p>
            <a:pPr lvl="1"/>
            <a:r>
              <a:rPr lang="en-GB" sz="2800" dirty="0">
                <a:solidFill>
                  <a:srgbClr val="404040"/>
                </a:solidFill>
                <a:latin typeface="Fira Sans" pitchFamily="34"/>
              </a:rPr>
              <a:t>Text generation</a:t>
            </a:r>
          </a:p>
          <a:p>
            <a:pPr lvl="1"/>
            <a:r>
              <a:rPr lang="en-GB" sz="2800" dirty="0">
                <a:solidFill>
                  <a:srgbClr val="404040"/>
                </a:solidFill>
                <a:latin typeface="Fira Sans" pitchFamily="34"/>
              </a:rPr>
              <a:t>Translation</a:t>
            </a:r>
          </a:p>
          <a:p>
            <a:pPr lvl="1"/>
            <a:r>
              <a:rPr lang="en-GB" sz="2800" dirty="0">
                <a:solidFill>
                  <a:srgbClr val="404040"/>
                </a:solidFill>
                <a:latin typeface="Fira Sans" pitchFamily="34"/>
              </a:rPr>
              <a:t>…</a:t>
            </a:r>
          </a:p>
          <a:p>
            <a:pPr lvl="1"/>
            <a:endParaRPr lang="en-GB" sz="2800" dirty="0">
              <a:solidFill>
                <a:srgbClr val="404040"/>
              </a:solidFill>
              <a:latin typeface="Fira Sans" pitchFamily="34"/>
            </a:endParaRPr>
          </a:p>
          <a:p>
            <a:pPr lvl="1"/>
            <a:endParaRPr lang="en-GB" sz="2800" dirty="0">
              <a:solidFill>
                <a:srgbClr val="404040"/>
              </a:solidFill>
              <a:latin typeface="Fira Sans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1164946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Feed-forward neural networks</a:t>
            </a:r>
            <a:endParaRPr lang="en-GB" sz="1800" kern="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7BFF40F-7343-4248-BD40-3279F69617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36706" y="1825625"/>
            <a:ext cx="4518587" cy="4351338"/>
          </a:xfrm>
        </p:spPr>
      </p:pic>
    </p:spTree>
    <p:extLst>
      <p:ext uri="{BB962C8B-B14F-4D97-AF65-F5344CB8AC3E}">
        <p14:creationId xmlns:p14="http://schemas.microsoft.com/office/powerpoint/2010/main" val="896126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2D201-0B2D-370D-54CE-B891D1317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2A8C7-F575-E1E6-E9F2-84D9FEA522E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kumimoji="0" lang="en-US" sz="4500" b="1" i="0" u="none" strike="noStrike" kern="0" cap="none" spc="0" normalizeH="0" baseline="0" noProof="0" dirty="0">
                <a:ln>
                  <a:noFill/>
                </a:ln>
                <a:solidFill>
                  <a:srgbClr val="006388"/>
                </a:solidFill>
                <a:effectLst/>
                <a:uLnTx/>
                <a:uFillTx/>
                <a:latin typeface="Fira Sans" pitchFamily="34"/>
                <a:ea typeface="Fira Code" pitchFamily="49"/>
              </a:rPr>
              <a:t>Simple recurrent network</a:t>
            </a:r>
            <a:endParaRPr lang="en-GB" sz="5400" b="1" kern="0" dirty="0">
              <a:solidFill>
                <a:srgbClr val="006388"/>
              </a:solidFill>
              <a:latin typeface="Fira Sans" pitchFamily="34"/>
              <a:ea typeface="Fira Code" pitchFamily="4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933569-9277-EA1B-0A39-84B727FDC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4163" y="1688668"/>
            <a:ext cx="6719890" cy="22944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4F6796-0F91-045C-5B9C-C3B2316A4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6549" y="4022124"/>
            <a:ext cx="6719889" cy="258822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532F49-1723-5E21-4D26-C67672EAF477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9C6A3C-F0DE-4587-B6A6-8E7EE78CBA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697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AE8BD-2126-B157-1A92-AA2C118D7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F8494-037D-2FCB-FCE8-AE20EEAF029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kumimoji="0" lang="en-US" sz="4500" b="1" i="0" u="none" strike="noStrike" kern="0" cap="none" spc="0" normalizeH="0" baseline="0" noProof="0" dirty="0">
                <a:ln>
                  <a:noFill/>
                </a:ln>
                <a:solidFill>
                  <a:srgbClr val="006388"/>
                </a:solidFill>
                <a:effectLst/>
                <a:uLnTx/>
                <a:uFillTx/>
                <a:latin typeface="Fira Sans" pitchFamily="34"/>
                <a:ea typeface="Fira Code" pitchFamily="49"/>
              </a:rPr>
              <a:t>Recurrent neural network</a:t>
            </a:r>
            <a:endParaRPr lang="en-GB" sz="5400" b="1" kern="0" dirty="0">
              <a:solidFill>
                <a:srgbClr val="006388"/>
              </a:solidFill>
              <a:latin typeface="Fira Sans" pitchFamily="34"/>
              <a:ea typeface="Fira Code" pitchFamily="49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642B35-7D47-B45E-B9FE-856B7E8C60BA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9C6A3C-F0DE-4587-B6A6-8E7EE78CBA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Introduction to Recurrent Neural Networks - GeeksforGeeks">
            <a:extLst>
              <a:ext uri="{FF2B5EF4-FFF2-40B4-BE49-F238E27FC236}">
                <a16:creationId xmlns:a16="http://schemas.microsoft.com/office/drawing/2014/main" id="{F4FC9E82-6B31-94A1-426B-EBE5D1D0B6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/>
          <a:stretch>
            <a:fillRect/>
          </a:stretch>
        </p:blipFill>
        <p:spPr bwMode="auto">
          <a:xfrm>
            <a:off x="1016000" y="1993899"/>
            <a:ext cx="10160000" cy="436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5151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3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C3136-3CE2-4372-9CD9-CAAA784CC7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2766215"/>
            <a:ext cx="10515600" cy="1325559"/>
          </a:xfrm>
        </p:spPr>
        <p:txBody>
          <a:bodyPr anchorCtr="1">
            <a:normAutofit/>
          </a:bodyPr>
          <a:lstStyle/>
          <a:p>
            <a:pPr lvl="0" algn="ctr">
              <a:lnSpc>
                <a:spcPct val="100000"/>
              </a:lnSpc>
            </a:pPr>
            <a:r>
              <a:rPr lang="en-GB" sz="5400" b="1" kern="0" dirty="0">
                <a:solidFill>
                  <a:srgbClr val="FFFFFF"/>
                </a:solidFill>
                <a:latin typeface="Fira Sans" pitchFamily="34"/>
                <a:ea typeface="Fira Code" pitchFamily="49"/>
              </a:rPr>
              <a:t>Convolutional Neural Networks</a:t>
            </a:r>
            <a:endParaRPr lang="en-GB" sz="1800" kern="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8161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What is a convolution?</a:t>
            </a:r>
            <a:endParaRPr lang="en-GB" sz="1800" kern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84DFCD-58F4-4B07-B0A6-C8EDB8DC2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Convolution is applying a </a:t>
            </a:r>
            <a:r>
              <a:rPr lang="en-GB" b="1" dirty="0">
                <a:solidFill>
                  <a:srgbClr val="006388"/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kernel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 (</a:t>
            </a:r>
            <a:r>
              <a:rPr lang="en-GB" dirty="0">
                <a:solidFill>
                  <a:srgbClr val="006388"/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filter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) over data (text, image, etc.)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The kernel (filter) defines which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feature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 is important in the data</a:t>
            </a:r>
          </a:p>
          <a:p>
            <a:endParaRPr lang="en-NL" dirty="0">
              <a:solidFill>
                <a:schemeClr val="tx1">
                  <a:lumMod val="75000"/>
                  <a:lumOff val="25000"/>
                </a:schemeClr>
              </a:solidFill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4965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What is a convolution?</a:t>
            </a:r>
            <a:endParaRPr lang="en-GB" sz="1800" kern="0" dirty="0"/>
          </a:p>
        </p:txBody>
      </p:sp>
      <p:pic>
        <p:nvPicPr>
          <p:cNvPr id="9" name="Content Placeholder 8" descr="Shape&#10;&#10;Description automatically generated">
            <a:extLst>
              <a:ext uri="{FF2B5EF4-FFF2-40B4-BE49-F238E27FC236}">
                <a16:creationId xmlns:a16="http://schemas.microsoft.com/office/drawing/2014/main" id="{42DD5117-719E-43CC-8D57-DC61FF9BEE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4812" y="1838969"/>
            <a:ext cx="3762375" cy="4276725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C460518-08CB-4DC6-9BCF-90F0AA2C74D7}"/>
              </a:ext>
            </a:extLst>
          </p:cNvPr>
          <p:cNvSpPr txBox="1"/>
          <p:nvPr/>
        </p:nvSpPr>
        <p:spPr>
          <a:xfrm>
            <a:off x="6685005" y="6421664"/>
            <a:ext cx="53775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L" sz="16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Fira Sans" panose="020B0503050000020004" pitchFamily="34" charset="0"/>
                <a:ea typeface="Fira Sans" panose="020B0503050000020004" pitchFamily="34" charset="0"/>
                <a:cs typeface="+mn-cs"/>
              </a:rPr>
              <a:t>https://github.com/vdumoulin/conv_arithmetic</a:t>
            </a:r>
          </a:p>
        </p:txBody>
      </p:sp>
    </p:spTree>
    <p:extLst>
      <p:ext uri="{BB962C8B-B14F-4D97-AF65-F5344CB8AC3E}">
        <p14:creationId xmlns:p14="http://schemas.microsoft.com/office/powerpoint/2010/main" val="44811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033FD-7D8E-98E1-3B11-3407684D7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2D121-584E-72FA-82FA-52302A450B8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What is a convolution?</a:t>
            </a:r>
            <a:endParaRPr lang="en-GB" sz="1800" kern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8CB66C-89A7-3AF0-350F-BDE0FE6C7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975" y="2471890"/>
            <a:ext cx="9984299" cy="273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665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What is a convolution?</a:t>
            </a:r>
            <a:endParaRPr lang="en-GB" sz="1800" kern="0" dirty="0"/>
          </a:p>
        </p:txBody>
      </p:sp>
      <p:pic>
        <p:nvPicPr>
          <p:cNvPr id="9" name="Picture 8" descr="A screenshot of a grid&#10;&#10;AI-generated content may be incorrect.">
            <a:extLst>
              <a:ext uri="{FF2B5EF4-FFF2-40B4-BE49-F238E27FC236}">
                <a16:creationId xmlns:a16="http://schemas.microsoft.com/office/drawing/2014/main" id="{662CBDE9-542A-83C6-DF49-3D54E1EA63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726" y="1482220"/>
            <a:ext cx="7772400" cy="4533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BE9EE1D-0C83-A343-AD2C-D9F27D71D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375780"/>
            <a:ext cx="5493328" cy="150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349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Convolution layers</a:t>
            </a:r>
            <a:endParaRPr lang="en-GB" sz="1800" kern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84DFCD-58F4-4B07-B0A6-C8EDB8DC2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3" y="1825626"/>
            <a:ext cx="4994186" cy="460606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A convolutional neural network is a NN with one or more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convolution layers</a:t>
            </a:r>
          </a:p>
          <a:p>
            <a:pPr>
              <a:lnSpc>
                <a:spcPct val="110000"/>
              </a:lnSpc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The parameters / weights in a convolution layer are the elements of the filter</a:t>
            </a:r>
          </a:p>
          <a:p>
            <a:pPr>
              <a:lnSpc>
                <a:spcPct val="110000"/>
              </a:lnSpc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The filter is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learnt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by the network!</a:t>
            </a:r>
          </a:p>
          <a:p>
            <a:pPr>
              <a:lnSpc>
                <a:spcPct val="110000"/>
              </a:lnSpc>
            </a:pPr>
            <a:endParaRPr lang="en-NL" dirty="0">
              <a:solidFill>
                <a:schemeClr val="tx1">
                  <a:lumMod val="75000"/>
                  <a:lumOff val="25000"/>
                </a:schemeClr>
              </a:solidFill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86E821-DB10-4377-B7C4-5D199A3A7E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5741"/>
          <a:stretch/>
        </p:blipFill>
        <p:spPr>
          <a:xfrm>
            <a:off x="6984363" y="1491655"/>
            <a:ext cx="3889762" cy="4448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0129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Pooling layer</a:t>
            </a:r>
            <a:endParaRPr lang="en-GB" sz="1800" kern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84DFCD-58F4-4B07-B0A6-C8EDB8DC2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3" y="1825626"/>
            <a:ext cx="4994186" cy="460606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Convolution layers are usually followed by a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pooling layer</a:t>
            </a:r>
          </a:p>
          <a:p>
            <a:pPr>
              <a:lnSpc>
                <a:spcPct val="110000"/>
              </a:lnSpc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Reduces dimensionality</a:t>
            </a:r>
          </a:p>
          <a:p>
            <a:pPr>
              <a:lnSpc>
                <a:spcPct val="110000"/>
              </a:lnSpc>
            </a:pP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Location invariance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: Robustness against pixel shift / small rotations</a:t>
            </a:r>
          </a:p>
          <a:p>
            <a:pPr>
              <a:lnSpc>
                <a:spcPct val="110000"/>
              </a:lnSpc>
            </a:pP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Max pool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most common</a:t>
            </a:r>
          </a:p>
          <a:p>
            <a:pPr>
              <a:lnSpc>
                <a:spcPct val="110000"/>
              </a:lnSpc>
            </a:pPr>
            <a:endParaRPr lang="en-NL" dirty="0">
              <a:solidFill>
                <a:schemeClr val="tx1">
                  <a:lumMod val="75000"/>
                  <a:lumOff val="25000"/>
                </a:schemeClr>
              </a:solidFill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86E821-DB10-4377-B7C4-5D199A3A7E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4134"/>
          <a:stretch/>
        </p:blipFill>
        <p:spPr>
          <a:xfrm>
            <a:off x="6146160" y="1355730"/>
            <a:ext cx="5207637" cy="444862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AAE4E50-E969-4A43-8264-BCBEF03B3371}"/>
              </a:ext>
            </a:extLst>
          </p:cNvPr>
          <p:cNvSpPr/>
          <p:nvPr/>
        </p:nvSpPr>
        <p:spPr>
          <a:xfrm>
            <a:off x="10997514" y="1445741"/>
            <a:ext cx="902043" cy="1099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DF1B59-ADD8-4E84-A843-F3AFE4FBCA32}"/>
              </a:ext>
            </a:extLst>
          </p:cNvPr>
          <p:cNvSpPr/>
          <p:nvPr/>
        </p:nvSpPr>
        <p:spPr>
          <a:xfrm>
            <a:off x="11140346" y="1568215"/>
            <a:ext cx="902043" cy="1099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9CF73D-1AC2-405B-BC1F-17D17D452748}"/>
              </a:ext>
            </a:extLst>
          </p:cNvPr>
          <p:cNvSpPr/>
          <p:nvPr/>
        </p:nvSpPr>
        <p:spPr>
          <a:xfrm>
            <a:off x="11235444" y="1690689"/>
            <a:ext cx="902043" cy="1099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B2E3BD-9A0A-4882-9A70-085536155C3B}"/>
              </a:ext>
            </a:extLst>
          </p:cNvPr>
          <p:cNvSpPr/>
          <p:nvPr/>
        </p:nvSpPr>
        <p:spPr>
          <a:xfrm>
            <a:off x="11140346" y="3517685"/>
            <a:ext cx="902043" cy="1099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74480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Pooling layer</a:t>
            </a:r>
            <a:endParaRPr lang="en-GB" sz="1800" kern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7D18EF-358D-41C1-BD05-C7DF51D32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810" y="2517651"/>
            <a:ext cx="7192379" cy="23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9447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Architecture of a CNN</a:t>
            </a:r>
            <a:endParaRPr lang="en-GB" sz="1800" kern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57C5A35-D0C3-4D10-AC5E-53BDB0402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1" y="1781106"/>
            <a:ext cx="11353797" cy="4448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5581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3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C3136-3CE2-4372-9CD9-CAAA784CC7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2766215"/>
            <a:ext cx="10515600" cy="1325559"/>
          </a:xfrm>
        </p:spPr>
        <p:txBody>
          <a:bodyPr anchorCtr="1">
            <a:normAutofit/>
          </a:bodyPr>
          <a:lstStyle/>
          <a:p>
            <a:pPr lvl="0" algn="ctr">
              <a:lnSpc>
                <a:spcPct val="100000"/>
              </a:lnSpc>
            </a:pPr>
            <a:r>
              <a:rPr lang="en-GB" sz="5400" b="1" kern="0" dirty="0">
                <a:solidFill>
                  <a:srgbClr val="FFFFFF"/>
                </a:solidFill>
                <a:latin typeface="Fira Sans" pitchFamily="34"/>
                <a:ea typeface="Fira Code" pitchFamily="49"/>
              </a:rPr>
              <a:t>Large Language Models</a:t>
            </a:r>
            <a:endParaRPr lang="en-GB" sz="2400" kern="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52058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Once Upon a Time | Disney Wiki | Fandom">
            <a:extLst>
              <a:ext uri="{FF2B5EF4-FFF2-40B4-BE49-F238E27FC236}">
                <a16:creationId xmlns:a16="http://schemas.microsoft.com/office/drawing/2014/main" id="{3FE24D44-7784-B630-9DA4-88DFBCA78D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45" r="19071" b="1"/>
          <a:stretch/>
        </p:blipFill>
        <p:spPr bwMode="auto">
          <a:xfrm>
            <a:off x="20" y="-2"/>
            <a:ext cx="6323142" cy="5593660"/>
          </a:xfrm>
          <a:custGeom>
            <a:avLst/>
            <a:gdLst/>
            <a:ahLst/>
            <a:cxnLst/>
            <a:rect l="l" t="t" r="r" b="b"/>
            <a:pathLst>
              <a:path w="6323162" h="5593660">
                <a:moveTo>
                  <a:pt x="2177447" y="0"/>
                </a:moveTo>
                <a:lnTo>
                  <a:pt x="4826316" y="0"/>
                </a:lnTo>
                <a:lnTo>
                  <a:pt x="4971508" y="75777"/>
                </a:lnTo>
                <a:cubicBezTo>
                  <a:pt x="5197582" y="210111"/>
                  <a:pt x="5400550" y="381325"/>
                  <a:pt x="5577109" y="586873"/>
                </a:cubicBezTo>
                <a:cubicBezTo>
                  <a:pt x="6058235" y="1147205"/>
                  <a:pt x="6323162" y="1943505"/>
                  <a:pt x="6323162" y="2829148"/>
                </a:cubicBezTo>
                <a:cubicBezTo>
                  <a:pt x="6323162" y="3182494"/>
                  <a:pt x="6220623" y="3466081"/>
                  <a:pt x="5990836" y="3748729"/>
                </a:cubicBezTo>
                <a:cubicBezTo>
                  <a:pt x="5750480" y="4044392"/>
                  <a:pt x="5389327" y="4316711"/>
                  <a:pt x="5006899" y="4604992"/>
                </a:cubicBezTo>
                <a:cubicBezTo>
                  <a:pt x="4936343" y="4658116"/>
                  <a:pt x="4863453" y="4713117"/>
                  <a:pt x="4790566" y="4768788"/>
                </a:cubicBezTo>
                <a:cubicBezTo>
                  <a:pt x="4138128" y="5267012"/>
                  <a:pt x="3661945" y="5593660"/>
                  <a:pt x="3012943" y="5593660"/>
                </a:cubicBezTo>
                <a:cubicBezTo>
                  <a:pt x="2024062" y="5593660"/>
                  <a:pt x="1323723" y="5192693"/>
                  <a:pt x="671286" y="4252856"/>
                </a:cubicBezTo>
                <a:cubicBezTo>
                  <a:pt x="585906" y="4129842"/>
                  <a:pt x="502446" y="4017964"/>
                  <a:pt x="421733" y="3909839"/>
                </a:cubicBezTo>
                <a:cubicBezTo>
                  <a:pt x="254471" y="3685679"/>
                  <a:pt x="130655" y="3515312"/>
                  <a:pt x="48655" y="3351082"/>
                </a:cubicBezTo>
                <a:lnTo>
                  <a:pt x="0" y="3239820"/>
                </a:lnTo>
                <a:lnTo>
                  <a:pt x="0" y="2248150"/>
                </a:lnTo>
                <a:lnTo>
                  <a:pt x="1658" y="2239520"/>
                </a:lnTo>
                <a:cubicBezTo>
                  <a:pt x="51657" y="2045089"/>
                  <a:pt x="126469" y="1853225"/>
                  <a:pt x="225714" y="1665285"/>
                </a:cubicBezTo>
                <a:cubicBezTo>
                  <a:pt x="419948" y="1297585"/>
                  <a:pt x="697641" y="961011"/>
                  <a:pt x="1050970" y="665214"/>
                </a:cubicBezTo>
                <a:cubicBezTo>
                  <a:pt x="1311437" y="447090"/>
                  <a:pt x="1608578" y="257641"/>
                  <a:pt x="1923692" y="107844"/>
                </a:cubicBezTo>
                <a:close/>
              </a:path>
            </a:pathLst>
          </a:custGeom>
          <a:solidFill>
            <a:srgbClr val="FFFFFF"/>
          </a:solidFill>
        </p:spPr>
      </p:pic>
      <p:pic>
        <p:nvPicPr>
          <p:cNvPr id="4" name="Picture 3" descr="A group of cartoon characters&#10;&#10;Description automatically generated">
            <a:extLst>
              <a:ext uri="{FF2B5EF4-FFF2-40B4-BE49-F238E27FC236}">
                <a16:creationId xmlns:a16="http://schemas.microsoft.com/office/drawing/2014/main" id="{4D595AA7-780B-9937-D720-AF6406402A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298" r="22021" b="-2"/>
          <a:stretch/>
        </p:blipFill>
        <p:spPr>
          <a:xfrm>
            <a:off x="6795930" y="1685367"/>
            <a:ext cx="5396070" cy="5172635"/>
          </a:xfrm>
          <a:custGeom>
            <a:avLst/>
            <a:gdLst/>
            <a:ahLst/>
            <a:cxnLst/>
            <a:rect l="l" t="t" r="r" b="b"/>
            <a:pathLst>
              <a:path w="5396070" h="5172635">
                <a:moveTo>
                  <a:pt x="2809770" y="1442"/>
                </a:moveTo>
                <a:cubicBezTo>
                  <a:pt x="3212462" y="15635"/>
                  <a:pt x="3625968" y="134989"/>
                  <a:pt x="4032739" y="376223"/>
                </a:cubicBezTo>
                <a:cubicBezTo>
                  <a:pt x="4589656" y="706501"/>
                  <a:pt x="5051318" y="1213487"/>
                  <a:pt x="5362614" y="1796088"/>
                </a:cubicBezTo>
                <a:lnTo>
                  <a:pt x="5396070" y="1864600"/>
                </a:lnTo>
                <a:lnTo>
                  <a:pt x="5396070" y="4888539"/>
                </a:lnTo>
                <a:lnTo>
                  <a:pt x="5373530" y="4924165"/>
                </a:lnTo>
                <a:cubicBezTo>
                  <a:pt x="5310112" y="5013254"/>
                  <a:pt x="5241620" y="5088864"/>
                  <a:pt x="5168684" y="5154829"/>
                </a:cubicBezTo>
                <a:lnTo>
                  <a:pt x="5146924" y="5172635"/>
                </a:lnTo>
                <a:lnTo>
                  <a:pt x="987172" y="5172635"/>
                </a:lnTo>
                <a:lnTo>
                  <a:pt x="842383" y="4959392"/>
                </a:lnTo>
                <a:cubicBezTo>
                  <a:pt x="689919" y="4704655"/>
                  <a:pt x="574982" y="4422821"/>
                  <a:pt x="460051" y="4132485"/>
                </a:cubicBezTo>
                <a:cubicBezTo>
                  <a:pt x="123442" y="3282182"/>
                  <a:pt x="-251427" y="2525854"/>
                  <a:pt x="227408" y="1673941"/>
                </a:cubicBezTo>
                <a:cubicBezTo>
                  <a:pt x="822220" y="615687"/>
                  <a:pt x="1780673" y="-34829"/>
                  <a:pt x="2809770" y="1442"/>
                </a:cubicBez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19347522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CFCEAFF-1A47-1B31-C8B1-8B91C03665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8905" y="592420"/>
            <a:ext cx="8908015" cy="843188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Transformers!</a:t>
            </a:r>
          </a:p>
        </p:txBody>
      </p:sp>
      <p:pic>
        <p:nvPicPr>
          <p:cNvPr id="3" name="Picture 2" descr="Transformers: Rise of the Beasts - Pathé Thuis">
            <a:extLst>
              <a:ext uri="{FF2B5EF4-FFF2-40B4-BE49-F238E27FC236}">
                <a16:creationId xmlns:a16="http://schemas.microsoft.com/office/drawing/2014/main" id="{3491D2C4-6FA5-2572-5EB7-CF45EAB9E7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919235" y="1500029"/>
            <a:ext cx="9078686" cy="510676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016490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CFCEAFF-1A47-1B31-C8B1-8B91C03665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8905" y="592420"/>
            <a:ext cx="8908015" cy="843188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Large Language Models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66CC69-3522-B052-86F2-1C7A8413D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95" y="2011607"/>
            <a:ext cx="10874904" cy="350382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AF8FB0D-D4E4-7CED-762A-76E976638814}"/>
              </a:ext>
            </a:extLst>
          </p:cNvPr>
          <p:cNvSpPr txBox="1">
            <a:spLocks/>
          </p:cNvSpPr>
          <p:nvPr/>
        </p:nvSpPr>
        <p:spPr>
          <a:xfrm>
            <a:off x="3440317" y="2391738"/>
            <a:ext cx="8908015" cy="8431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 anchorCtr="0" compatLnSpc="1">
            <a:normAutofit/>
          </a:bodyPr>
          <a:lstStyle>
            <a:lvl1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4400" b="0" i="0" u="none" strike="noStrike" kern="1200" cap="none" spc="0" baseline="0">
                <a:solidFill>
                  <a:srgbClr val="000000"/>
                </a:solidFill>
                <a:uFillTx/>
                <a:latin typeface="Calibri Light"/>
              </a:defRPr>
            </a:lvl1pPr>
          </a:lstStyle>
          <a:p>
            <a:pPr>
              <a:spcBef>
                <a:spcPct val="0"/>
              </a:spcBef>
            </a:pPr>
            <a:r>
              <a:rPr lang="en-GB" sz="3200" kern="0" dirty="0">
                <a:solidFill>
                  <a:schemeClr val="bg2">
                    <a:lumMod val="25000"/>
                  </a:schemeClr>
                </a:solidFill>
                <a:latin typeface="Fira Sans" pitchFamily="34"/>
                <a:ea typeface="Fira Code" pitchFamily="49"/>
                <a:cs typeface="Open Sans" panose="020B0606030504020204" pitchFamily="34" charset="0"/>
              </a:rPr>
              <a:t>ChatGPT4o</a:t>
            </a:r>
          </a:p>
        </p:txBody>
      </p:sp>
    </p:spTree>
    <p:extLst>
      <p:ext uri="{BB962C8B-B14F-4D97-AF65-F5344CB8AC3E}">
        <p14:creationId xmlns:p14="http://schemas.microsoft.com/office/powerpoint/2010/main" val="18567068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CB49425-DF43-6E73-7F9A-046F0C2F09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2108" y="61674"/>
            <a:ext cx="10515600" cy="1325559"/>
          </a:xfrm>
        </p:spPr>
        <p:txBody>
          <a:bodyPr anchor="b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Transformers!</a:t>
            </a:r>
            <a:endParaRPr lang="en-GB" sz="5400" b="1" kern="0" dirty="0">
              <a:solidFill>
                <a:srgbClr val="006388"/>
              </a:solidFill>
              <a:latin typeface="Fira Sans" pitchFamily="34"/>
              <a:ea typeface="Fira Code" pitchFamily="49"/>
            </a:endParaRPr>
          </a:p>
        </p:txBody>
      </p:sp>
      <p:pic>
        <p:nvPicPr>
          <p:cNvPr id="3082" name="Picture 10" descr="Optimize Transformer Model Inference on Intel® Processors">
            <a:extLst>
              <a:ext uri="{FF2B5EF4-FFF2-40B4-BE49-F238E27FC236}">
                <a16:creationId xmlns:a16="http://schemas.microsoft.com/office/drawing/2014/main" id="{19A8914C-E186-F78E-2D32-BD2F8C66A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543" y="1306286"/>
            <a:ext cx="4005461" cy="543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9431B3-1C59-6BCC-DA0C-319FDCB948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7277" y="3957077"/>
            <a:ext cx="8024723" cy="2762736"/>
          </a:xfrm>
          <a:prstGeom prst="rect">
            <a:avLst/>
          </a:prstGeom>
        </p:spPr>
      </p:pic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256959B4-8C1E-BE49-B443-9F16B20DA837}"/>
              </a:ext>
            </a:extLst>
          </p:cNvPr>
          <p:cNvGraphicFramePr/>
          <p:nvPr/>
        </p:nvGraphicFramePr>
        <p:xfrm>
          <a:off x="5099243" y="1508636"/>
          <a:ext cx="6160789" cy="20046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6748613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802" y="445789"/>
            <a:ext cx="10760054" cy="1228299"/>
          </a:xfrm>
        </p:spPr>
        <p:txBody>
          <a:bodyPr>
            <a:normAutofit fontScale="90000"/>
          </a:bodyPr>
          <a:lstStyle/>
          <a:p>
            <a:r>
              <a:rPr lang="sv-SE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Transformer foundation models:</a:t>
            </a:r>
            <a:br>
              <a:rPr lang="sv-SE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</a:br>
            <a:r>
              <a:rPr lang="sv-SE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BERT, GPT, BART</a:t>
            </a:r>
            <a:endParaRPr lang="en-GB" sz="5400" b="1" kern="0" dirty="0">
              <a:solidFill>
                <a:srgbClr val="006388"/>
              </a:solidFill>
              <a:latin typeface="Fira Sans" pitchFamily="34"/>
              <a:ea typeface="Fira Code" pitchFamily="4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761802" y="2321476"/>
            <a:ext cx="4864875" cy="3850724"/>
          </a:xfrm>
        </p:spPr>
        <p:txBody>
          <a:bodyPr anchor="ctr">
            <a:normAutofit/>
          </a:bodyPr>
          <a:lstStyle/>
          <a:p>
            <a:r>
              <a:rPr lang="en-US" sz="1900" b="1" i="0" u="none" strike="noStrike" baseline="0">
                <a:latin typeface="OpenSans-Regular"/>
              </a:rPr>
              <a:t>BERT</a:t>
            </a:r>
            <a:r>
              <a:rPr lang="en-US" sz="1900" b="0" i="0" u="none" strike="noStrike" baseline="0">
                <a:latin typeface="OpenSans-Regular"/>
              </a:rPr>
              <a:t>: </a:t>
            </a:r>
            <a:r>
              <a:rPr lang="en-US" sz="1900" b="1" i="0" u="none" strike="noStrike" baseline="0">
                <a:latin typeface="OpenSans-Bold"/>
              </a:rPr>
              <a:t>B</a:t>
            </a:r>
            <a:r>
              <a:rPr lang="en-US" sz="1900" b="0" i="0" u="none" strike="noStrike" baseline="0">
                <a:latin typeface="OpenSans-Regular"/>
              </a:rPr>
              <a:t>idirectional </a:t>
            </a:r>
            <a:r>
              <a:rPr lang="en-US" sz="1900" b="1" i="0" u="none" strike="noStrike" baseline="0">
                <a:latin typeface="OpenSans-Bold"/>
              </a:rPr>
              <a:t>E</a:t>
            </a:r>
            <a:r>
              <a:rPr lang="en-US" sz="1900" b="0" i="0" u="none" strike="noStrike" baseline="0">
                <a:latin typeface="OpenSans-Regular"/>
              </a:rPr>
              <a:t>ncoder </a:t>
            </a:r>
            <a:r>
              <a:rPr lang="en-US" sz="1900" b="1" i="0" u="none" strike="noStrike" baseline="0">
                <a:latin typeface="OpenSans-Bold"/>
              </a:rPr>
              <a:t>R</a:t>
            </a:r>
            <a:r>
              <a:rPr lang="en-US" sz="1900" b="0" i="0" u="none" strike="noStrike" baseline="0">
                <a:latin typeface="OpenSans-Regular"/>
              </a:rPr>
              <a:t>epresentations from </a:t>
            </a:r>
            <a:r>
              <a:rPr lang="en-US" sz="1900" b="1" i="0" u="none" strike="noStrike" baseline="0">
                <a:latin typeface="OpenSans-Bold"/>
              </a:rPr>
              <a:t>T</a:t>
            </a:r>
            <a:r>
              <a:rPr lang="en-US" sz="1900" b="0" i="0" u="none" strike="noStrike" baseline="0">
                <a:latin typeface="OpenSans-Regular"/>
              </a:rPr>
              <a:t>ransformers. </a:t>
            </a:r>
          </a:p>
          <a:p>
            <a:pPr lvl="1"/>
            <a:r>
              <a:rPr lang="en-US" sz="1900" b="0" i="1" u="none" strike="noStrike" baseline="0">
                <a:latin typeface="OpenSans-Italic"/>
              </a:rPr>
              <a:t>Masked word prediction, text representation</a:t>
            </a:r>
          </a:p>
          <a:p>
            <a:r>
              <a:rPr lang="en-US" sz="1900" b="1" i="0" u="none" strike="noStrike" baseline="0">
                <a:latin typeface="OpenSans-Regular"/>
              </a:rPr>
              <a:t>GPT</a:t>
            </a:r>
            <a:r>
              <a:rPr lang="en-US" sz="1900" b="0" i="0" u="none" strike="noStrike" baseline="0">
                <a:latin typeface="OpenSans-Regular"/>
              </a:rPr>
              <a:t>: </a:t>
            </a:r>
            <a:r>
              <a:rPr lang="en-US" sz="1900" b="1" i="0" u="none" strike="noStrike" baseline="0">
                <a:latin typeface="OpenSans-Bold"/>
              </a:rPr>
              <a:t>G</a:t>
            </a:r>
            <a:r>
              <a:rPr lang="en-US" sz="1900" b="0" i="0" u="none" strike="noStrike" baseline="0">
                <a:latin typeface="OpenSans-Regular"/>
              </a:rPr>
              <a:t>enerative </a:t>
            </a:r>
            <a:r>
              <a:rPr lang="en-US" sz="1900" b="1" i="0" u="none" strike="noStrike" baseline="0">
                <a:latin typeface="OpenSans-Bold"/>
              </a:rPr>
              <a:t>P</a:t>
            </a:r>
            <a:r>
              <a:rPr lang="en-US" sz="1900" b="0" i="0" u="none" strike="noStrike" baseline="0">
                <a:latin typeface="OpenSans-Regular"/>
              </a:rPr>
              <a:t>re-trained </a:t>
            </a:r>
            <a:r>
              <a:rPr lang="en-US" sz="1900" b="1" i="0" u="none" strike="noStrike" baseline="0">
                <a:latin typeface="OpenSans-Bold"/>
              </a:rPr>
              <a:t>T</a:t>
            </a:r>
            <a:r>
              <a:rPr lang="en-US" sz="1900" b="0" i="0" u="none" strike="noStrike" baseline="0">
                <a:latin typeface="OpenSans-Regular"/>
              </a:rPr>
              <a:t>ransformer. </a:t>
            </a:r>
          </a:p>
          <a:p>
            <a:pPr lvl="1"/>
            <a:r>
              <a:rPr lang="en-US" sz="1900" b="0" i="1" u="none" strike="noStrike" baseline="0">
                <a:latin typeface="OpenSans-Italic"/>
              </a:rPr>
              <a:t>Next word prediction, text generation, chat</a:t>
            </a:r>
          </a:p>
          <a:p>
            <a:r>
              <a:rPr lang="en-US" sz="1900" b="1" i="0" u="none" strike="noStrike" baseline="0">
                <a:latin typeface="OpenSans-Regular"/>
              </a:rPr>
              <a:t>BART</a:t>
            </a:r>
            <a:r>
              <a:rPr lang="en-US" sz="1900" b="0" i="0" u="none" strike="noStrike" baseline="0">
                <a:latin typeface="OpenSans-Regular"/>
              </a:rPr>
              <a:t> = “BERT+GPT”: </a:t>
            </a:r>
            <a:r>
              <a:rPr lang="en-US" sz="1900" b="1" i="0" u="none" strike="noStrike" baseline="0">
                <a:latin typeface="OpenSans-Bold"/>
              </a:rPr>
              <a:t>B</a:t>
            </a:r>
            <a:r>
              <a:rPr lang="en-US" sz="1900" b="0" i="0" u="none" strike="noStrike" baseline="0">
                <a:latin typeface="OpenSans-Regular"/>
              </a:rPr>
              <a:t>idirectional encoder and </a:t>
            </a:r>
            <a:r>
              <a:rPr lang="en-US" sz="1900" b="1" i="0" u="none" strike="noStrike" baseline="0">
                <a:latin typeface="OpenSans-Bold"/>
              </a:rPr>
              <a:t>A</a:t>
            </a:r>
            <a:r>
              <a:rPr lang="en-US" sz="1900" b="0" i="0" u="none" strike="noStrike" baseline="0">
                <a:latin typeface="OpenSans-Regular"/>
              </a:rPr>
              <a:t>uto-</a:t>
            </a:r>
            <a:r>
              <a:rPr lang="en-US" sz="1900" b="1" i="0" u="none" strike="noStrike" baseline="0">
                <a:latin typeface="OpenSans-Bold"/>
              </a:rPr>
              <a:t>R</a:t>
            </a:r>
            <a:r>
              <a:rPr lang="en-US" sz="1900" b="0" i="0" u="none" strike="noStrike" baseline="0">
                <a:latin typeface="OpenSans-Regular"/>
              </a:rPr>
              <a:t>egressive decoder </a:t>
            </a:r>
            <a:r>
              <a:rPr lang="en-US" sz="1900" b="1" i="0" u="none" strike="noStrike" baseline="0">
                <a:latin typeface="OpenSans-Bold"/>
              </a:rPr>
              <a:t>T</a:t>
            </a:r>
            <a:r>
              <a:rPr lang="en-US" sz="1900" b="0" i="0" u="none" strike="noStrike" baseline="0">
                <a:latin typeface="OpenSans-Regular"/>
              </a:rPr>
              <a:t>ransformers. </a:t>
            </a:r>
          </a:p>
          <a:p>
            <a:pPr lvl="1"/>
            <a:r>
              <a:rPr lang="en-US" sz="1900" b="0" i="1" u="none" strike="noStrike" baseline="0">
                <a:latin typeface="OpenSans-Italic"/>
              </a:rPr>
              <a:t>Noised text reconstruction, summarization, translation, spelling correction</a:t>
            </a:r>
            <a:endParaRPr lang="en-GB" sz="1900">
              <a:latin typeface="Fira Sans" pitchFamily="34"/>
            </a:endParaRPr>
          </a:p>
        </p:txBody>
      </p:sp>
      <p:pic>
        <p:nvPicPr>
          <p:cNvPr id="5122" name="Picture 2" descr="A schematic comparison of BART with BERT and GPT. [72] input... | Download  Scientific Diagram">
            <a:extLst>
              <a:ext uri="{FF2B5EF4-FFF2-40B4-BE49-F238E27FC236}">
                <a16:creationId xmlns:a16="http://schemas.microsoft.com/office/drawing/2014/main" id="{4309DE0F-5F2E-648D-8422-7B47CA8E87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43650" y="2652301"/>
            <a:ext cx="5178206" cy="314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26767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5B7544-9339-CFAE-4C2F-CD8CFE351245}"/>
              </a:ext>
            </a:extLst>
          </p:cNvPr>
          <p:cNvSpPr txBox="1"/>
          <p:nvPr/>
        </p:nvSpPr>
        <p:spPr>
          <a:xfrm>
            <a:off x="1008529" y="6131859"/>
            <a:ext cx="78148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On the Opportunities and Risks of Foundation Models by </a:t>
            </a:r>
            <a:r>
              <a:rPr lang="en-GB" dirty="0" err="1"/>
              <a:t>Bommasani</a:t>
            </a:r>
            <a:r>
              <a:rPr lang="en-GB" dirty="0"/>
              <a:t> et al. 2022</a:t>
            </a:r>
          </a:p>
          <a:p>
            <a:r>
              <a:rPr lang="en-GB" dirty="0">
                <a:hlinkClick r:id="rId2"/>
              </a:rPr>
              <a:t>https://arxiv.org/pdf/2108.07258</a:t>
            </a:r>
            <a:r>
              <a:rPr lang="en-GB" dirty="0"/>
              <a:t> </a:t>
            </a:r>
            <a:endParaRPr lang="en-N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121E90-63DC-FC72-8120-49D6CB836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500" y="742447"/>
            <a:ext cx="9342348" cy="241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6084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1CAE7-750D-4E61-A150-7A39DAADC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Foundational Models</a:t>
            </a:r>
            <a:endParaRPr lang="en-NL" sz="5400" b="1" kern="0" dirty="0">
              <a:solidFill>
                <a:srgbClr val="006388"/>
              </a:solidFill>
              <a:latin typeface="Fira Sans" pitchFamily="34"/>
              <a:ea typeface="Fira Code" pitchFamily="4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7838F9-1F2F-C9E2-0C4D-F0F680FB8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76083"/>
            <a:ext cx="10512547" cy="4388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3824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BDE6B-3C78-B010-F769-975A9F244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36154-9C2F-FBAA-DC77-66E587084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Foundational Models</a:t>
            </a:r>
            <a:endParaRPr lang="en-NL" sz="5400" b="1" kern="0" dirty="0">
              <a:solidFill>
                <a:srgbClr val="006388"/>
              </a:solidFill>
              <a:latin typeface="Fira Sans" pitchFamily="34"/>
              <a:ea typeface="Fira Code" pitchFamily="4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FD347A-71E2-2F4F-8A13-617777F20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918" y="1487777"/>
            <a:ext cx="7772400" cy="4393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8588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9C980-8B7D-4C12-B074-3879C84E2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EBAA6-CD89-BC3A-37D4-B87EA6939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Foundational Models</a:t>
            </a:r>
            <a:endParaRPr lang="en-NL" sz="5400" b="1" kern="0" dirty="0">
              <a:solidFill>
                <a:srgbClr val="006388"/>
              </a:solidFill>
              <a:latin typeface="Fira Sans" pitchFamily="34"/>
              <a:ea typeface="Fira Code" pitchFamily="4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B76BF5-1DEA-34F1-4439-866AF639A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871" y="1350091"/>
            <a:ext cx="6113929" cy="5390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6566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149CC-F6C0-D263-6F47-AEBE1AE73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136FD-66CA-E062-D9E4-098D75D01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Foundational Models</a:t>
            </a:r>
            <a:endParaRPr lang="en-NL" sz="5400" b="1" kern="0" dirty="0">
              <a:solidFill>
                <a:srgbClr val="006388"/>
              </a:solidFill>
              <a:latin typeface="Fira Sans" pitchFamily="34"/>
              <a:ea typeface="Fira Code" pitchFamily="4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386F45-1B5C-2035-47C4-B7BF1DD29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42698"/>
            <a:ext cx="7772400" cy="476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9426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2D83E-BC84-5CE6-86E0-CA6200118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2F588-39A1-C960-E034-EDB93933B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Foundational Models</a:t>
            </a:r>
            <a:endParaRPr lang="en-NL" sz="5400" b="1" kern="0" dirty="0">
              <a:solidFill>
                <a:srgbClr val="006388"/>
              </a:solidFill>
              <a:latin typeface="Fira Sans" pitchFamily="34"/>
              <a:ea typeface="Fira Code" pitchFamily="4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ACF2D0-6897-8C99-21CF-4F1D9772B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90688"/>
            <a:ext cx="7772400" cy="4773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2594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E9457-1D66-D0DA-2A7E-473DDF776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509EB-B0FF-3D27-C3E4-53C33AF62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Foundational Models</a:t>
            </a:r>
            <a:endParaRPr lang="en-NL" sz="5400" b="1" kern="0" dirty="0">
              <a:solidFill>
                <a:srgbClr val="006388"/>
              </a:solidFill>
              <a:latin typeface="Fira Sans" pitchFamily="34"/>
              <a:ea typeface="Fira Code" pitchFamily="4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46D4C8-BD76-2320-F254-79F10DDF0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693" y="1536762"/>
            <a:ext cx="9684905" cy="45816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15A40B-7E3F-BB1E-3F72-E629B28560DC}"/>
              </a:ext>
            </a:extLst>
          </p:cNvPr>
          <p:cNvSpPr txBox="1"/>
          <p:nvPr/>
        </p:nvSpPr>
        <p:spPr>
          <a:xfrm>
            <a:off x="838200" y="6303863"/>
            <a:ext cx="6098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sz="1400" dirty="0"/>
              <a:t>Kianté Brantley: https://xkianteb.github.io</a:t>
            </a:r>
          </a:p>
        </p:txBody>
      </p:sp>
    </p:spTree>
    <p:extLst>
      <p:ext uri="{BB962C8B-B14F-4D97-AF65-F5344CB8AC3E}">
        <p14:creationId xmlns:p14="http://schemas.microsoft.com/office/powerpoint/2010/main" val="18368123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4C872-25AB-DAD8-CC73-B2B2B56EE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3DFF5-355E-0B43-E89C-01E3D4087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Foundational Models</a:t>
            </a:r>
            <a:endParaRPr lang="en-NL" sz="5400" b="1" kern="0" dirty="0">
              <a:solidFill>
                <a:srgbClr val="006388"/>
              </a:solidFill>
              <a:latin typeface="Fira Sans" pitchFamily="34"/>
              <a:ea typeface="Fira Code" pitchFamily="49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46E7342-222A-2614-B251-6F2E49425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786" y="1845426"/>
            <a:ext cx="8357375" cy="445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2318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D33D8-63B0-125C-8B0C-EDECD3B5E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C8419-4F7F-5A0C-2B88-457DE5F60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anchor="ctr">
            <a:normAutofit/>
          </a:bodyPr>
          <a:lstStyle/>
          <a:p>
            <a:r>
              <a:rPr lang="en-GB" sz="4000" b="1" kern="0" dirty="0">
                <a:latin typeface="Fira Sans" pitchFamily="34"/>
                <a:ea typeface="Fira Code" pitchFamily="49"/>
                <a:cs typeface="Open Sans" panose="020B0606030504020204" pitchFamily="34" charset="0"/>
              </a:rPr>
              <a:t>Foundational Models</a:t>
            </a:r>
            <a:endParaRPr lang="en-NL" sz="4000" b="1" kern="0" dirty="0">
              <a:latin typeface="Fira Sans" pitchFamily="34"/>
              <a:ea typeface="Fira Code" pitchFamily="49"/>
              <a:cs typeface="Open Sans" panose="020B0606030504020204" pitchFamily="34" charset="0"/>
            </a:endParaRPr>
          </a:p>
        </p:txBody>
      </p:sp>
      <p:pic>
        <p:nvPicPr>
          <p:cNvPr id="3" name="Picture 2" descr="A screenshot of a chat&#10;&#10;AI-generated content may be incorrect.">
            <a:extLst>
              <a:ext uri="{FF2B5EF4-FFF2-40B4-BE49-F238E27FC236}">
                <a16:creationId xmlns:a16="http://schemas.microsoft.com/office/drawing/2014/main" id="{604DCE83-2D82-DA93-96FF-0B2E9D8AE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204601"/>
            <a:ext cx="10512547" cy="373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6DCF81-AF5B-F244-92A5-9D29C2D46E7C}"/>
              </a:ext>
            </a:extLst>
          </p:cNvPr>
          <p:cNvSpPr txBox="1"/>
          <p:nvPr/>
        </p:nvSpPr>
        <p:spPr>
          <a:xfrm>
            <a:off x="346262" y="6274166"/>
            <a:ext cx="640416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sz="1000" dirty="0"/>
              <a:t>https://www.reddit.com/r/ChatGPT/comments/17h0hyr/i_made_a_site_where_you_can_ask_the_same_question/</a:t>
            </a:r>
          </a:p>
        </p:txBody>
      </p:sp>
    </p:spTree>
    <p:extLst>
      <p:ext uri="{BB962C8B-B14F-4D97-AF65-F5344CB8AC3E}">
        <p14:creationId xmlns:p14="http://schemas.microsoft.com/office/powerpoint/2010/main" val="38055521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51D39-9F0A-9040-FD6E-BA77D5333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A220D-CEE1-7681-5E7F-004119139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anchor="ctr">
            <a:normAutofit/>
          </a:bodyPr>
          <a:lstStyle/>
          <a:p>
            <a:r>
              <a:rPr lang="en-GB" sz="4000" b="1" kern="0" dirty="0">
                <a:latin typeface="Fira Sans" pitchFamily="34"/>
                <a:ea typeface="Fira Code" pitchFamily="49"/>
                <a:cs typeface="Open Sans" panose="020B0606030504020204" pitchFamily="34" charset="0"/>
              </a:rPr>
              <a:t>Foundational Models: Problems</a:t>
            </a:r>
            <a:endParaRPr lang="en-NL" sz="4000" b="1" kern="0" dirty="0">
              <a:latin typeface="Fira Sans" pitchFamily="34"/>
              <a:ea typeface="Fira Code" pitchFamily="49"/>
              <a:cs typeface="Open Sans" panose="020B06060305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1C6C98-4886-BABC-E470-D60AD5FB725D}"/>
              </a:ext>
            </a:extLst>
          </p:cNvPr>
          <p:cNvSpPr txBox="1"/>
          <p:nvPr/>
        </p:nvSpPr>
        <p:spPr>
          <a:xfrm>
            <a:off x="1828800" y="1997839"/>
            <a:ext cx="689834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“</a:t>
            </a:r>
            <a:r>
              <a:rPr lang="en-GB" sz="2400" dirty="0">
                <a:solidFill>
                  <a:srgbClr val="E6000E"/>
                </a:solidFill>
                <a:effectLst/>
                <a:latin typeface="Helvetica Neue" panose="02000503000000020004" pitchFamily="2" charset="0"/>
              </a:rPr>
              <a:t>Making language models bigger does not</a:t>
            </a:r>
          </a:p>
          <a:p>
            <a:pPr>
              <a:buNone/>
            </a:pPr>
            <a:r>
              <a:rPr lang="en-GB" sz="2400" dirty="0">
                <a:solidFill>
                  <a:srgbClr val="E6000E"/>
                </a:solidFill>
                <a:effectLst/>
                <a:latin typeface="Helvetica Neue" panose="02000503000000020004" pitchFamily="2" charset="0"/>
              </a:rPr>
              <a:t>inherently make them better at following a user’s</a:t>
            </a:r>
          </a:p>
          <a:p>
            <a:pPr>
              <a:buNone/>
            </a:pPr>
            <a:r>
              <a:rPr lang="en-GB" sz="2400" dirty="0">
                <a:solidFill>
                  <a:srgbClr val="E6000E"/>
                </a:solidFill>
                <a:effectLst/>
                <a:latin typeface="Helvetica Neue" panose="02000503000000020004" pitchFamily="2" charset="0"/>
              </a:rPr>
              <a:t>intent.</a:t>
            </a:r>
            <a:r>
              <a:rPr lang="en-GB" sz="240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For example, large language models can</a:t>
            </a:r>
          </a:p>
          <a:p>
            <a:pPr>
              <a:buNone/>
            </a:pPr>
            <a:r>
              <a:rPr lang="en-GB" sz="240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generate outputs that are untruthful, toxic, or</a:t>
            </a:r>
          </a:p>
          <a:p>
            <a:pPr>
              <a:buNone/>
            </a:pPr>
            <a:r>
              <a:rPr lang="en-GB" sz="240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simply not helpful to the user. In other words,</a:t>
            </a:r>
          </a:p>
          <a:p>
            <a:pPr>
              <a:buNone/>
            </a:pPr>
            <a:r>
              <a:rPr lang="en-GB" sz="240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these models are not aligned with their users.”</a:t>
            </a:r>
          </a:p>
          <a:p>
            <a:pPr>
              <a:buNone/>
            </a:pPr>
            <a:endParaRPr lang="en-GB" sz="2400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  <a:p>
            <a:pPr algn="r">
              <a:buNone/>
            </a:pPr>
            <a:r>
              <a:rPr lang="en-GB" sz="240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Long Ouyang et al.</a:t>
            </a:r>
          </a:p>
          <a:p>
            <a:pPr algn="r">
              <a:buNone/>
            </a:pPr>
            <a:r>
              <a:rPr lang="en-GB" sz="240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Training language models to follow</a:t>
            </a:r>
          </a:p>
          <a:p>
            <a:pPr algn="r">
              <a:buNone/>
            </a:pPr>
            <a:r>
              <a:rPr lang="en-GB" sz="240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instructions with human feedback</a:t>
            </a:r>
          </a:p>
          <a:p>
            <a:pPr algn="r"/>
            <a:r>
              <a:rPr lang="en-GB" sz="2400" b="1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OpenAI 2022</a:t>
            </a:r>
            <a:endParaRPr lang="en-GB" sz="2400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49008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E852C-A8A5-ED56-C3A6-25F7B38C8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137F9-864C-891B-0698-CA3BBB6AD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anchor="ctr">
            <a:normAutofit/>
          </a:bodyPr>
          <a:lstStyle/>
          <a:p>
            <a:r>
              <a:rPr lang="en-GB" sz="4000" b="1" kern="0" dirty="0">
                <a:latin typeface="Fira Sans" pitchFamily="34"/>
                <a:ea typeface="Fira Code" pitchFamily="49"/>
                <a:cs typeface="Open Sans" panose="020B0606030504020204" pitchFamily="34" charset="0"/>
              </a:rPr>
              <a:t>Foundational Models: improvements</a:t>
            </a:r>
            <a:endParaRPr lang="en-NL" sz="4000" b="1" kern="0" dirty="0">
              <a:latin typeface="Fira Sans" pitchFamily="34"/>
              <a:ea typeface="Fira Code" pitchFamily="49"/>
              <a:cs typeface="Open Sans" panose="020B0606030504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5D13E3-9513-F5E3-A077-1693498E5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690688"/>
            <a:ext cx="7772400" cy="40258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F61ADC-3069-4AB5-7005-FEC51ECE6712}"/>
              </a:ext>
            </a:extLst>
          </p:cNvPr>
          <p:cNvSpPr txBox="1"/>
          <p:nvPr/>
        </p:nvSpPr>
        <p:spPr>
          <a:xfrm>
            <a:off x="561414" y="6026864"/>
            <a:ext cx="65251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rgbClr val="000000"/>
                </a:solidFill>
                <a:effectLst/>
                <a:latin typeface="Times"/>
              </a:rPr>
              <a:t>Training language models to follow instructions with human feedback Ouyang et al. 2022</a:t>
            </a:r>
          </a:p>
        </p:txBody>
      </p:sp>
    </p:spTree>
    <p:extLst>
      <p:ext uri="{BB962C8B-B14F-4D97-AF65-F5344CB8AC3E}">
        <p14:creationId xmlns:p14="http://schemas.microsoft.com/office/powerpoint/2010/main" val="2655551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FA2C5-AEDB-8242-3392-0A1A719E8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C6CD9-FD42-6F8C-E33C-9156067CA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anchor="ctr">
            <a:normAutofit/>
          </a:bodyPr>
          <a:lstStyle/>
          <a:p>
            <a:r>
              <a:rPr lang="en-GB" sz="4000" b="1" kern="0" dirty="0">
                <a:latin typeface="Fira Sans" pitchFamily="34"/>
                <a:ea typeface="Fira Code" pitchFamily="49"/>
                <a:cs typeface="Open Sans" panose="020B0606030504020204" pitchFamily="34" charset="0"/>
              </a:rPr>
              <a:t>Foundational Models: improvements</a:t>
            </a:r>
            <a:endParaRPr lang="en-NL" sz="4000" b="1" kern="0" dirty="0">
              <a:latin typeface="Fira Sans" pitchFamily="34"/>
              <a:ea typeface="Fira Code" pitchFamily="49"/>
              <a:cs typeface="Open Sans" panose="020B0606030504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39B6E5-9601-D740-EE8C-0136F0C46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90688"/>
            <a:ext cx="7772400" cy="4548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4976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02582-8E95-BE02-0516-9223BDA37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10D33-5F0F-4DFD-E522-80B032B22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anchor="ctr">
            <a:normAutofit/>
          </a:bodyPr>
          <a:lstStyle/>
          <a:p>
            <a:r>
              <a:rPr lang="en-GB" sz="4000" b="1" kern="0" dirty="0">
                <a:latin typeface="Fira Sans" pitchFamily="34"/>
                <a:ea typeface="Fira Code" pitchFamily="49"/>
                <a:cs typeface="Open Sans" panose="020B0606030504020204" pitchFamily="34" charset="0"/>
              </a:rPr>
              <a:t>Foundational Models: improvements</a:t>
            </a:r>
            <a:endParaRPr lang="en-NL" sz="4000" b="1" kern="0" dirty="0">
              <a:latin typeface="Fira Sans" pitchFamily="34"/>
              <a:ea typeface="Fira Code" pitchFamily="49"/>
              <a:cs typeface="Open Sans" panose="020B0606030504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1E6883-96BD-96BA-33FD-0A90FE25A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199" y="1577218"/>
            <a:ext cx="7442317" cy="489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7022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CB49425-DF43-6E73-7F9A-046F0C2F09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2108" y="61674"/>
            <a:ext cx="10515600" cy="1325559"/>
          </a:xfrm>
        </p:spPr>
        <p:txBody>
          <a:bodyPr anchor="b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Dutch language models</a:t>
            </a:r>
            <a:endParaRPr lang="en-GB" sz="5400" b="1" kern="0" dirty="0">
              <a:solidFill>
                <a:srgbClr val="006388"/>
              </a:solidFill>
              <a:latin typeface="Fira Sans" pitchFamily="34"/>
              <a:ea typeface="Fira Code" pitchFamily="4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881D94-72D2-DD99-2B4E-6C08CB23F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42" y="1522326"/>
            <a:ext cx="5267258" cy="4974633"/>
          </a:xfrm>
          <a:prstGeom prst="rect">
            <a:avLst/>
          </a:prstGeom>
        </p:spPr>
      </p:pic>
      <p:pic>
        <p:nvPicPr>
          <p:cNvPr id="10242" name="Picture 2" descr="RobBERT's performance on smaller datasets">
            <a:extLst>
              <a:ext uri="{FF2B5EF4-FFF2-40B4-BE49-F238E27FC236}">
                <a16:creationId xmlns:a16="http://schemas.microsoft.com/office/drawing/2014/main" id="{754631BF-314E-5253-9214-8D62D82D24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3005" y="2235758"/>
            <a:ext cx="5742632" cy="3828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98296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chemeClr val="accent6"/>
                </a:solidFill>
                <a:latin typeface="Fira Sans" pitchFamily="34"/>
                <a:ea typeface="Fira Code" pitchFamily="49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rmAutofit/>
          </a:bodyPr>
          <a:lstStyle/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Neural networks are popular methods especially for text mining</a:t>
            </a:r>
          </a:p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Feed-forward &amp; RNN &amp; CNN</a:t>
            </a:r>
          </a:p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RNN works better for text data</a:t>
            </a:r>
          </a:p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Large Language Models such as GPT are based on RNN and attention deep learning layer.</a:t>
            </a:r>
            <a:endParaRPr lang="en-GB" sz="3200" b="1" dirty="0">
              <a:solidFill>
                <a:srgbClr val="404040"/>
              </a:solidFill>
              <a:latin typeface="Fira Sans" pitchFamily="3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50287-4A27-40E6-8622-7DD33A581F2B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9C6A3C-F0DE-4587-B6A6-8E7EE78CBA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73395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39A0E-8C39-4822-9891-AC1B2E10B5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1798551"/>
            <a:ext cx="10515600" cy="1325559"/>
          </a:xfrm>
        </p:spPr>
        <p:txBody>
          <a:bodyPr anchor="b">
            <a:noAutofit/>
          </a:bodyPr>
          <a:lstStyle/>
          <a:p>
            <a:pPr lvl="0">
              <a:lnSpc>
                <a:spcPct val="100000"/>
              </a:lnSpc>
            </a:pPr>
            <a:r>
              <a:rPr lang="en-GB" sz="4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Practical 8</a:t>
            </a:r>
            <a:endParaRPr lang="en-GB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3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444D2-268D-4B0D-A054-F46B0FD616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2766215"/>
            <a:ext cx="10515600" cy="1325559"/>
          </a:xfrm>
        </p:spPr>
        <p:txBody>
          <a:bodyPr anchorCtr="1"/>
          <a:lstStyle/>
          <a:p>
            <a:pPr lvl="0" algn="ctr">
              <a:lnSpc>
                <a:spcPct val="100000"/>
              </a:lnSpc>
            </a:pPr>
            <a:r>
              <a:rPr lang="en-GB" sz="5400" b="1" kern="0">
                <a:solidFill>
                  <a:srgbClr val="FFFFFF"/>
                </a:solidFill>
                <a:latin typeface="Fira Sans" pitchFamily="34"/>
                <a:ea typeface="Fira Code" pitchFamily="49"/>
              </a:rPr>
              <a:t>Questions?</a:t>
            </a:r>
            <a:endParaRPr lang="en-GB" sz="1800" kern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1362</TotalTime>
  <Words>547</Words>
  <Application>Microsoft Macintosh PowerPoint</Application>
  <PresentationFormat>Widescreen</PresentationFormat>
  <Paragraphs>108</Paragraphs>
  <Slides>40</Slides>
  <Notes>8</Notes>
  <HiddenSlides>0</HiddenSlides>
  <MMClips>1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40</vt:i4>
      </vt:variant>
    </vt:vector>
  </HeadingPairs>
  <TitlesOfParts>
    <vt:vector size="53" baseType="lpstr">
      <vt:lpstr>OpenSans-Regular</vt:lpstr>
      <vt:lpstr>Calibri Light</vt:lpstr>
      <vt:lpstr>OpenSans-Italic</vt:lpstr>
      <vt:lpstr>Times</vt:lpstr>
      <vt:lpstr>Calibri</vt:lpstr>
      <vt:lpstr>Helvetica Neue</vt:lpstr>
      <vt:lpstr>OpenSans-Bold</vt:lpstr>
      <vt:lpstr>Arial</vt:lpstr>
      <vt:lpstr>plusjakartasans</vt:lpstr>
      <vt:lpstr>Fira Sans</vt:lpstr>
      <vt:lpstr>Office Theme</vt:lpstr>
      <vt:lpstr>1_Office Theme</vt:lpstr>
      <vt:lpstr>2_Office Theme</vt:lpstr>
      <vt:lpstr>PowerPoint Presentation</vt:lpstr>
      <vt:lpstr>This lecture</vt:lpstr>
      <vt:lpstr>Text mining process</vt:lpstr>
      <vt:lpstr>Introduction</vt:lpstr>
      <vt:lpstr>Why should we learn this?</vt:lpstr>
      <vt:lpstr>Feed-forward neural networks</vt:lpstr>
      <vt:lpstr>Simple recurrent network</vt:lpstr>
      <vt:lpstr>Recurrent neural network</vt:lpstr>
      <vt:lpstr>Convolutional Neural Networks</vt:lpstr>
      <vt:lpstr>What is a convolution?</vt:lpstr>
      <vt:lpstr>What is a convolution?</vt:lpstr>
      <vt:lpstr>What is a convolution?</vt:lpstr>
      <vt:lpstr>What is a convolution?</vt:lpstr>
      <vt:lpstr>Convolution layers</vt:lpstr>
      <vt:lpstr>Pooling layer</vt:lpstr>
      <vt:lpstr>Pooling layer</vt:lpstr>
      <vt:lpstr>Architecture of a CNN</vt:lpstr>
      <vt:lpstr>Large Language Models</vt:lpstr>
      <vt:lpstr>PowerPoint Presentation</vt:lpstr>
      <vt:lpstr>Transformers!</vt:lpstr>
      <vt:lpstr>Large Language Models</vt:lpstr>
      <vt:lpstr>Transformers!</vt:lpstr>
      <vt:lpstr>Transformer foundation models: BERT, GPT, BART</vt:lpstr>
      <vt:lpstr>PowerPoint Presentation</vt:lpstr>
      <vt:lpstr>Foundational Models</vt:lpstr>
      <vt:lpstr>Foundational Models</vt:lpstr>
      <vt:lpstr>Foundational Models</vt:lpstr>
      <vt:lpstr>Foundational Models</vt:lpstr>
      <vt:lpstr>Foundational Models</vt:lpstr>
      <vt:lpstr>Foundational Models</vt:lpstr>
      <vt:lpstr>Foundational Models</vt:lpstr>
      <vt:lpstr>Foundational Models</vt:lpstr>
      <vt:lpstr>Foundational Models: Problems</vt:lpstr>
      <vt:lpstr>Foundational Models: improvements</vt:lpstr>
      <vt:lpstr>Foundational Models: improvements</vt:lpstr>
      <vt:lpstr>Foundational Models: improvements</vt:lpstr>
      <vt:lpstr>Dutch language models</vt:lpstr>
      <vt:lpstr>Conclusion</vt:lpstr>
      <vt:lpstr>Practical 8</vt:lpstr>
      <vt:lpstr>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Ayoub Bagheri</dc:creator>
  <cp:keywords/>
  <dc:description/>
  <cp:lastModifiedBy>Bagheri, A. (Robert)</cp:lastModifiedBy>
  <cp:revision>101</cp:revision>
  <dcterms:created xsi:type="dcterms:W3CDTF">2020-09-17T14:27:00Z</dcterms:created>
  <dcterms:modified xsi:type="dcterms:W3CDTF">2026-07-16T11:31:40Z</dcterms:modified>
  <cp:category/>
</cp:coreProperties>
</file>