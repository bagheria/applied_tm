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  <p:sldMasterId id="2147483660" r:id="rId2"/>
    <p:sldMasterId id="2147483672" r:id="rId3"/>
  </p:sldMasterIdLst>
  <p:notesMasterIdLst>
    <p:notesMasterId r:id="rId48"/>
  </p:notesMasterIdLst>
  <p:sldIdLst>
    <p:sldId id="363" r:id="rId4"/>
    <p:sldId id="296" r:id="rId5"/>
    <p:sldId id="609" r:id="rId6"/>
    <p:sldId id="289" r:id="rId7"/>
    <p:sldId id="297" r:id="rId8"/>
    <p:sldId id="630" r:id="rId9"/>
    <p:sldId id="303" r:id="rId10"/>
    <p:sldId id="304" r:id="rId11"/>
    <p:sldId id="299" r:id="rId12"/>
    <p:sldId id="663" r:id="rId13"/>
    <p:sldId id="631" r:id="rId14"/>
    <p:sldId id="302" r:id="rId15"/>
    <p:sldId id="632" r:id="rId16"/>
    <p:sldId id="633" r:id="rId17"/>
    <p:sldId id="634" r:id="rId18"/>
    <p:sldId id="635" r:id="rId19"/>
    <p:sldId id="312" r:id="rId20"/>
    <p:sldId id="314" r:id="rId21"/>
    <p:sldId id="322" r:id="rId22"/>
    <p:sldId id="317" r:id="rId23"/>
    <p:sldId id="323" r:id="rId24"/>
    <p:sldId id="636" r:id="rId25"/>
    <p:sldId id="315" r:id="rId26"/>
    <p:sldId id="295" r:id="rId27"/>
    <p:sldId id="638" r:id="rId28"/>
    <p:sldId id="325" r:id="rId29"/>
    <p:sldId id="639" r:id="rId30"/>
    <p:sldId id="640" r:id="rId31"/>
    <p:sldId id="330" r:id="rId32"/>
    <p:sldId id="339" r:id="rId33"/>
    <p:sldId id="650" r:id="rId34"/>
    <p:sldId id="651" r:id="rId35"/>
    <p:sldId id="652" r:id="rId36"/>
    <p:sldId id="343" r:id="rId37"/>
    <p:sldId id="341" r:id="rId38"/>
    <p:sldId id="653" r:id="rId39"/>
    <p:sldId id="353" r:id="rId40"/>
    <p:sldId id="654" r:id="rId41"/>
    <p:sldId id="655" r:id="rId42"/>
    <p:sldId id="656" r:id="rId43"/>
    <p:sldId id="649" r:id="rId44"/>
    <p:sldId id="658" r:id="rId45"/>
    <p:sldId id="627" r:id="rId46"/>
    <p:sldId id="292" r:id="rId47"/>
  </p:sldIdLst>
  <p:sldSz cx="12192000" cy="6858000"/>
  <p:notesSz cx="6858000" cy="9144000"/>
  <p:embeddedFontLst>
    <p:embeddedFont>
      <p:font typeface="Cambria Math" panose="02040503050406030204" pitchFamily="18" charset="0"/>
      <p:regular r:id="rId49"/>
    </p:embeddedFont>
    <p:embeddedFont>
      <p:font typeface="Fira Code" panose="020B0809050000020004" pitchFamily="49" charset="0"/>
      <p:regular r:id="rId50"/>
      <p:bold r:id="rId51"/>
    </p:embeddedFont>
    <p:embeddedFont>
      <p:font typeface="Fira Sans" panose="020B0503050000020004" pitchFamily="34" charset="0"/>
      <p:regular r:id="rId52"/>
      <p:bold r:id="rId53"/>
      <p:italic r:id="rId54"/>
      <p:boldItalic r:id="rId55"/>
    </p:embeddedFont>
    <p:embeddedFont>
      <p:font typeface="plusjakartasans" pitchFamily="2" charset="77"/>
      <p:regular r:id="rId56"/>
    </p:embeddedFont>
  </p:embeddedFontLst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">
    <a:wholeTbl>
      <a:tcTxStyle>
        <a:font>
          <a:latin typeface="+mn-lt"/>
          <a:ea typeface="+mn-ea"/>
          <a:cs typeface="+mn-cs"/>
        </a:font>
        <a:srgbClr val="000000"/>
      </a:tcTxStyle>
      <a:tcStyle>
        <a:tcBdr>
          <a:lef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E9EBF5"/>
          </a:solidFill>
        </a:fill>
      </a:tcStyle>
    </a:wholeTbl>
    <a:band1H>
      <a:tcStyle>
        <a:tcBdr/>
        <a:fill>
          <a:solidFill>
            <a:srgbClr val="CFD5EA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FD5EA"/>
          </a:solidFill>
        </a:fill>
      </a:tcStyle>
    </a:band1V>
    <a:band2V>
      <a:tcStyle>
        <a:tcBdr/>
      </a:tcStyle>
    </a:band2V>
    <a:la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4472C4"/>
          </a:solidFill>
        </a:fill>
      </a:tcStyle>
    </a:lastCol>
    <a:fir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4472C4"/>
          </a:solidFill>
        </a:fill>
      </a:tcStyle>
    </a:firstCol>
    <a:la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top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</a:tcBdr>
        <a:fill>
          <a:solidFill>
            <a:srgbClr val="4472C4"/>
          </a:solidFill>
        </a:fill>
      </a:tcStyle>
    </a:lastRow>
    <a:fir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bottom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4472C4"/>
          </a:solidFill>
        </a:fill>
      </a:tcStyle>
    </a:firstRow>
  </a:tblStyle>
  <a:tblStyle styleId="{073A0DAA-6AF3-43AB-8588-CEC1D06C72B9}" styleName="">
    <a:wholeTbl>
      <a:tcTxStyle>
        <a:font>
          <a:latin typeface="+mn-lt"/>
          <a:ea typeface="+mn-ea"/>
          <a:cs typeface="+mn-cs"/>
        </a:font>
        <a:srgbClr val="000000"/>
      </a:tcTxStyle>
      <a:tcStyle>
        <a:tcBdr>
          <a:lef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E7E7E7"/>
          </a:solidFill>
        </a:fill>
      </a:tcStyle>
    </a:wholeTbl>
    <a:band1H>
      <a:tcStyle>
        <a:tcBdr/>
        <a:fill>
          <a:solidFill>
            <a:srgbClr val="CBCBCB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BCBCB"/>
          </a:solidFill>
        </a:fill>
      </a:tcStyle>
    </a:band1V>
    <a:band2V>
      <a:tcStyle>
        <a:tcBdr/>
      </a:tcStyle>
    </a:band2V>
    <a:la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000000"/>
          </a:solidFill>
        </a:fill>
      </a:tcStyle>
    </a:lastCol>
    <a:fir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000000"/>
          </a:solidFill>
        </a:fill>
      </a:tcStyle>
    </a:firstCol>
    <a:la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top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</a:tcBdr>
        <a:fill>
          <a:solidFill>
            <a:srgbClr val="000000"/>
          </a:solidFill>
        </a:fill>
      </a:tcStyle>
    </a:lastRow>
    <a:fir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bottom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000000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80"/>
    <p:restoredTop sz="94475"/>
  </p:normalViewPr>
  <p:slideViewPr>
    <p:cSldViewPr snapToGrid="0">
      <p:cViewPr varScale="1">
        <p:scale>
          <a:sx n="119" d="100"/>
          <a:sy n="119" d="100"/>
        </p:scale>
        <p:origin x="376" y="184"/>
      </p:cViewPr>
      <p:guideLst/>
    </p:cSldViewPr>
  </p:slideViewPr>
  <p:outlineViewPr>
    <p:cViewPr>
      <p:scale>
        <a:sx n="33" d="100"/>
        <a:sy n="33" d="100"/>
      </p:scale>
      <p:origin x="0" y="-1616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font" Target="fonts/font2.fntdata"/><Relationship Id="rId55" Type="http://schemas.openxmlformats.org/officeDocument/2006/relationships/font" Target="fonts/font7.fntdata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font" Target="fonts/font5.fntdata"/><Relationship Id="rId58" Type="http://schemas.openxmlformats.org/officeDocument/2006/relationships/viewProps" Target="viewProps.xml"/><Relationship Id="rId5" Type="http://schemas.openxmlformats.org/officeDocument/2006/relationships/slide" Target="slides/slide2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notesMaster" Target="notesMasters/notesMaster1.xml"/><Relationship Id="rId56" Type="http://schemas.openxmlformats.org/officeDocument/2006/relationships/font" Target="fonts/font8.fntdata"/><Relationship Id="rId8" Type="http://schemas.openxmlformats.org/officeDocument/2006/relationships/slide" Target="slides/slide5.xml"/><Relationship Id="rId51" Type="http://schemas.openxmlformats.org/officeDocument/2006/relationships/font" Target="fonts/font3.fntdata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theme" Target="theme/theme1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font" Target="fonts/font1.fntdata"/><Relationship Id="rId57" Type="http://schemas.openxmlformats.org/officeDocument/2006/relationships/presProps" Target="presProps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font" Target="fonts/font4.fntdata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E9B76C6-9391-47F5-B15C-88D495FB9A95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</a:lstStyle>
          <a:p>
            <a:pPr lvl="0"/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E78B59-03DE-431C-A8FF-DF85B57B7C4E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3884608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</a:lstStyle>
          <a:p>
            <a:pPr lvl="0"/>
            <a:fld id="{4763329C-2BA7-49E5-9182-310C7B3CFD20}" type="datetime1">
              <a:rPr lang="en-GB"/>
              <a:pPr lvl="0"/>
              <a:t>16/07/2026</a:t>
            </a:fld>
            <a:endParaRPr lang="en-GB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84C8C93B-B35A-4A69-A8D0-6FC49D836A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099"/>
          </a:xfrm>
          <a:prstGeom prst="rect">
            <a:avLst/>
          </a:prstGeom>
          <a:noFill/>
          <a:ln w="12701">
            <a:solidFill>
              <a:srgbClr val="000000"/>
            </a:solidFill>
            <a:prstDash val="solid"/>
          </a:ln>
        </p:spPr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9CBC9F58-08E9-4159-929F-93022D6CD80D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7E029D-3528-48C5-B0FC-1AAD9EA7F59E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</a:lstStyle>
          <a:p>
            <a:pPr lvl="0"/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962000-2FE7-4DDD-8A7A-558DD2A3B88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</a:lstStyle>
          <a:p>
            <a:pPr lvl="0"/>
            <a:fld id="{D05D295E-7C44-4068-8D9B-DF3E542C2932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4117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marR="0" lvl="0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200" cap="none" spc="0" baseline="0">
        <a:solidFill>
          <a:srgbClr val="000000"/>
        </a:solidFill>
        <a:uFillTx/>
        <a:latin typeface="Calibri"/>
      </a:defRPr>
    </a:lvl1pPr>
    <a:lvl2pPr marL="457200" marR="0" lvl="1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200" cap="none" spc="0" baseline="0">
        <a:solidFill>
          <a:srgbClr val="000000"/>
        </a:solidFill>
        <a:uFillTx/>
        <a:latin typeface="Calibri"/>
      </a:defRPr>
    </a:lvl2pPr>
    <a:lvl3pPr marL="914400" marR="0" lvl="2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200" cap="none" spc="0" baseline="0">
        <a:solidFill>
          <a:srgbClr val="000000"/>
        </a:solidFill>
        <a:uFillTx/>
        <a:latin typeface="Calibri"/>
      </a:defRPr>
    </a:lvl3pPr>
    <a:lvl4pPr marL="1371600" marR="0" lvl="3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200" cap="none" spc="0" baseline="0">
        <a:solidFill>
          <a:srgbClr val="000000"/>
        </a:solidFill>
        <a:uFillTx/>
        <a:latin typeface="Calibri"/>
      </a:defRPr>
    </a:lvl4pPr>
    <a:lvl5pPr marL="1828800" marR="0" lvl="4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200" cap="none" spc="0" baseline="0">
        <a:solidFill>
          <a:srgbClr val="000000"/>
        </a:solidFill>
        <a:uFillTx/>
        <a:latin typeface="Calibri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BBD12-60E1-82F1-C95F-C5EBD4BBC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04957E-A740-E27F-96B6-87A8816B0C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8A42F1-32A7-1A7A-8229-1CAF0BAA47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plusjakartasans"/>
              </a:rPr>
              <a:t>Video by Google DeepMind from </a:t>
            </a:r>
            <a:r>
              <a:rPr lang="en-GB" b="0" i="0" u="none" strike="noStrike" dirty="0" err="1">
                <a:solidFill>
                  <a:srgbClr val="000000"/>
                </a:solidFill>
                <a:effectLst/>
                <a:latin typeface="plusjakartasans"/>
              </a:rPr>
              <a:t>Pexels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plusjakartasans"/>
              </a:rPr>
              <a:t>: https://</a:t>
            </a:r>
            <a:r>
              <a:rPr lang="en-GB" b="0" i="0" u="none" strike="noStrike" dirty="0" err="1">
                <a:solidFill>
                  <a:srgbClr val="000000"/>
                </a:solidFill>
                <a:effectLst/>
                <a:latin typeface="plusjakartasans"/>
              </a:rPr>
              <a:t>www.pexels.com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plusjakartasans"/>
              </a:rPr>
              <a:t>/video/an-artist-s-animation-of-artificial-intelligence-ai-this-video-depicts-language-models-which-generate-text-it-was-created-by-wes-cockx-as-part-of-the-visualising-ai-project-launched-by-18069700/</a:t>
            </a: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34F6B9-BF93-77AB-1311-A4DB86A2BD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D05D295E-7C44-4068-8D9B-DF3E542C2932}" type="slidenum">
              <a:rPr lang="en-NL" smtClean="0"/>
              <a:t>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9165200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D05D295E-7C44-4068-8D9B-DF3E542C2932}" type="slidenum">
              <a:rPr lang="en-NL" smtClean="0"/>
              <a:t>36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087398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A8D80A-44A1-4C0F-BB66-A39C94ED33C2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3C879D-7728-462B-95B1-EFE1CE5AE19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679C82-C664-41A3-9A03-F8AEEFF708AB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8625CF59-7AF3-7943-90C0-B191EB35C4CE}" type="datetime1">
              <a:rPr lang="en-US" smtClean="0"/>
              <a:t>7/16/26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3075F2-0696-450E-B2B4-85CD381B306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FB0038-A6EE-483C-92EA-79532855C53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9C828A0-0C03-4B9F-B3A9-BCC2B3ABF0D9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52299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28BD88-B94A-4541-8C5C-A8AF4B3760B8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2822B-0950-412C-BBD5-CDB2FBD7E3FD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B9B70E-267B-481B-B44A-A25020266DB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E60CF0E-A82D-294E-8D04-D93E532563E3}" type="datetime1">
              <a:rPr lang="en-US" smtClean="0"/>
              <a:t>7/16/26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203C20-E42A-46CD-B104-2E621447EB5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AF5674-9BCD-4C45-AD65-085697B63FB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F52093B-0720-486A-B874-975A27BF69CF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87273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42721-4181-44B2-8539-FA620D5F1E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1847" y="1709735"/>
            <a:ext cx="10515600" cy="2852735"/>
          </a:xfrm>
        </p:spPr>
        <p:txBody>
          <a:bodyPr anchor="b"/>
          <a:lstStyle>
            <a:lvl1pPr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14B4EE-0F25-4BCD-88B5-0B333601C3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1847" y="4589465"/>
            <a:ext cx="10515600" cy="1500182"/>
          </a:xfrm>
        </p:spPr>
        <p:txBody>
          <a:bodyPr/>
          <a:lstStyle>
            <a:lvl1pPr marL="0" indent="0">
              <a:buNone/>
              <a:defRPr sz="2400"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36D61B-680A-41D5-A857-C4E17D18E0B7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B3B53CE-5A2A-F844-9981-C79E76FF4D2E}" type="datetime1">
              <a:rPr lang="en-US" smtClean="0"/>
              <a:t>7/16/26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F3BB2C-2CCD-4FAD-A27E-43E943DAE1B1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6CB00-6285-4FE4-AD52-EF7DB90C877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610F211-B40B-498F-9139-10E73BCB8378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52563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85AEE-3893-47F5-A340-63BC8BBC1BE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CF9721-EB2F-4AAC-B701-6C8033E8C032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A27996-368A-470E-8F81-D3FFD8388BFD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72200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193693-3873-4A65-BEF0-9D7898BC1C6E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6E1885D-B45B-B943-8CF2-E7FEA29D956A}" type="datetime1">
              <a:rPr lang="en-US" smtClean="0"/>
              <a:t>7/16/26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5E55E4-8198-4281-B5C5-1C7EBA90EB8C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1A2613-DF15-4441-87A3-7C1B1F6E203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6694869-6021-48AD-806B-CBDCFDD0376D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3367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148B8-03F2-4015-B31D-6DB809FB48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365129"/>
            <a:ext cx="10515600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E64A66-0F1B-4B26-A4A7-87D6B7792B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9784" y="1681160"/>
            <a:ext cx="5157782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CF8E92-36F7-47F2-83E8-564F50FCEB2E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839784" y="2505071"/>
            <a:ext cx="5157782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EA68EF-7BCF-4206-8256-282210FDB3C7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72200" y="1681160"/>
            <a:ext cx="5183184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D5DD01-8429-41E6-B389-84E967C78335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72200" y="2505071"/>
            <a:ext cx="5183184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DADD44-DF59-418D-A10C-00A423E78B00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0E7CF9F-56F6-0B46-84D4-2C06798C92FC}" type="datetime1">
              <a:rPr lang="en-US" smtClean="0"/>
              <a:t>7/16/26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870903-5D2F-4ACF-AB5B-CC781AF6C3E1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0CCF1F-A0CC-4DB9-A532-46BA9E40F346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03E364D-F3BC-4851-8059-F4473CA00C37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38457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D3460-F399-4A6D-A8EE-84FA401BC0A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479D9F-EC74-4E40-A4C5-BE1FA82AF101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5A7CE4B-6FBE-E443-94EE-4C0B29407480}" type="datetime1">
              <a:rPr lang="en-US" smtClean="0"/>
              <a:t>7/16/26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2FCA65-2E43-4EB6-AF4D-2A81755E404B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56000F-FD03-41DF-92C2-F14D55AD56EA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0A119AC-B999-4A1C-8949-5098AD927FA7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77719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697CBB-778D-4A80-AB15-C22A9BC70BB5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79B14E5-2DB8-7745-9D68-620813C87DF8}" type="datetime1">
              <a:rPr lang="en-US" smtClean="0"/>
              <a:t>7/16/26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721211-F070-47BA-AB69-B3E3F1CBBE35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C492FE-9FE1-45BF-B049-A55EF97A5A0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8F91B0E5-DCF5-4DA9-8255-5A0817CC5477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01818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3D1371-24E6-4AC7-8E65-E21DA1260DE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44EF76-A80E-4B3C-8914-A07036D0E5BC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2E51DB-98B7-4C45-A3D2-65F37EC32EB5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CB0D35-F423-4444-87A4-0D3D64587BA9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8BE8273-5E7A-4540-A0E2-D1C5C6C12AC1}" type="datetime1">
              <a:rPr lang="en-US" smtClean="0"/>
              <a:t>7/16/26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56B62-D953-4965-BCEE-687DBBF22E3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E68670-6116-409B-BC26-B31CB68564E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B7CD89E-0E57-471A-8BDA-A9FF1DEF61D3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40139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4C584-A1B9-4714-B823-7285064F0A4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3590423-2C65-4625-9884-89695D6E90B6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 marL="0" indent="0">
              <a:buNone/>
              <a:defRPr lang="en-GB" sz="3200"/>
            </a:lvl1pPr>
          </a:lstStyle>
          <a:p>
            <a:pPr lvl="0"/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4F5F55-7EC4-40BB-A227-CC2BEA219B15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71E441-D2BD-43FB-BCB5-D3083DA78F02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87357B6F-212A-A54E-945B-379DEA9E7973}" type="datetime1">
              <a:rPr lang="en-US" smtClean="0"/>
              <a:t>7/16/26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E62B29-718C-4B1B-9446-D423E4453D81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7B1E85-EFE2-486F-AF8A-D7548780B89C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3687116-E12F-41F9-B947-2FC22B11FABA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05360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D3828-06E4-43B4-8A52-FE51E602BBDA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2028F0-2909-4A7C-BEE9-81BACFEF3825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994EB9-68A9-4F3A-8BE4-ACF30555BAD7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4C277A3-4E62-724D-9B87-00AEE23AD320}" type="datetime1">
              <a:rPr lang="en-US" smtClean="0"/>
              <a:t>7/16/26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C2A862-92FC-4FE3-81BF-70AD9913777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857E3B-6E3E-4955-A430-7ABF182E0154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CC2B209-914C-44E0-A84A-A3B9B7972676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76325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ECACFC1-33AA-4003-9248-5DCEC20DA44E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724903" y="365129"/>
            <a:ext cx="2628899" cy="581183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15B8264-701F-48AA-9BBE-84C82F575B2D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838203" y="365129"/>
            <a:ext cx="7734296" cy="581183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F84980-ACEE-41FF-8426-01F4429BDE2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67E4FA7-0ED4-B942-A31A-92981F529461}" type="datetime1">
              <a:rPr lang="en-US" smtClean="0"/>
              <a:t>7/16/26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D2712A-B571-4B4B-9D68-AF1BC94AB5F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FF864C-EBA4-476B-BDB3-764BF3EE603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4A469CE-38CA-4F3C-8432-6C4CA131A898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18814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933540-B32D-46D3-8A00-AC8948711CE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269567-F111-47AE-872D-2CFF051B605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03C000-A2E4-4F21-BFDA-30B3CB211ED9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FF3DDB2-489C-4BD1-B83F-A0852E3E0A02}" type="datetime1">
              <a:rPr lang="en-GB" smtClean="0"/>
              <a:t>16/07/2026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53F97F-4B2A-4920-A849-387B61F5B921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2CC54A-FB31-44A8-8692-2F0A1070466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1B9929F-084D-4E07-ACED-BED149780FD0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07451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A80C4-B5E2-46DC-ADC0-D6C557EC958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768E1A-522F-4D6F-860D-C8047D74E38A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047576-2994-42F5-AA45-C0D455651C27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2283809-6AD2-4C5E-BF6F-CFC16DE21BB3}" type="datetime1">
              <a:rPr lang="en-GB" smtClean="0"/>
              <a:t>16/07/2026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E9E8E3-CAFB-4C04-9B1A-AA7F6E36BB91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3E07C4-0230-4131-AC81-D9A06668702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29C6A3C-F0DE-4587-B6A6-8E7EE78CBA88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65550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F824A-05C5-4F78-BD21-1605B7FD72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1847" y="1709735"/>
            <a:ext cx="10515600" cy="2852735"/>
          </a:xfrm>
        </p:spPr>
        <p:txBody>
          <a:bodyPr anchor="b"/>
          <a:lstStyle>
            <a:lvl1pPr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CC134A-D0E5-4A39-92B5-7734670FBD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1847" y="4589465"/>
            <a:ext cx="10515600" cy="1500182"/>
          </a:xfrm>
        </p:spPr>
        <p:txBody>
          <a:bodyPr/>
          <a:lstStyle>
            <a:lvl1pPr marL="0" indent="0">
              <a:buNone/>
              <a:defRPr sz="2400"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0FCF32-2B36-4AA2-8E0D-4B25DE0DFE53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5D00E9F-93C8-4C72-BED4-5722B0DB4595}" type="datetime1">
              <a:rPr lang="en-GB" smtClean="0"/>
              <a:t>16/07/2026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A9D001-46B6-498C-A127-096E8E36EE4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0CA5A3-958C-4DF8-BB35-1FE5BCC5318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0B6D386-3FA7-4CC8-B32B-C4D73DDCC5DC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07127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02DE1-CAB8-4ABA-8F3B-B0471A4962BA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FBFEBA-FABD-4A22-99B7-F6732EBE2E76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D36175-3FE7-49EF-A0DA-CDD1501475E3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72200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C76EE0-CF86-4E3E-B1AB-D880EE061BB2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F4BA527-6D3E-4B85-BF3B-D0C19630C618}" type="datetime1">
              <a:rPr lang="en-GB" smtClean="0"/>
              <a:t>16/07/2026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D7BDC1-4FF2-42AC-8F6D-DFD9310B3333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064C9A-8708-4E6F-9E45-820BC2E98AE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AF393FD-3DF8-42A5-A8FA-A2BF771A37E3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264188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A4D1E-CDD8-40B0-8055-433F1CDFE24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365129"/>
            <a:ext cx="10515600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423DB5-474F-4F7F-86B8-462E7571A7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9784" y="1681160"/>
            <a:ext cx="5157782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A7EADC-8ACC-47D1-A0CC-53E314C5013F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839784" y="2505071"/>
            <a:ext cx="5157782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32531E8-EB75-428F-ACAF-D019895796E0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72200" y="1681160"/>
            <a:ext cx="5183184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ECC596C-DE5E-4BA0-8BD9-E0555E4DB520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72200" y="2505071"/>
            <a:ext cx="5183184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28B078-B553-4CC2-9691-9CA862EF476A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87A9EB70-316F-4ED1-A550-B56831254673}" type="datetime1">
              <a:rPr lang="en-GB" smtClean="0"/>
              <a:t>16/07/2026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6111F6-7239-4273-A090-67FDD2D97E3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1B007E5-88A4-4C84-9A6B-BA27790EC03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24BEE48-1C25-40B6-AE13-9BE115420C05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49747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775EA-C5BB-49E3-A7CB-3CDF5692E44B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026EA4-C3DB-4EBB-9B75-37F28C227BDB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2BA3858-3D31-477F-AF1D-891678E2DA90}" type="datetime1">
              <a:rPr lang="en-GB" smtClean="0"/>
              <a:t>16/07/2026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CD739B-620B-4FC7-8C7C-436452377E78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5C5685-31DB-4D15-A371-92CB77CB975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62D5E88-FC20-4906-A394-9A34973A1498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073313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03E9D22-4F00-4EE0-B7B0-422A8BD80F72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882CC21-44EB-477F-85CB-F868CD91A10B}" type="datetime1">
              <a:rPr lang="en-GB" smtClean="0"/>
              <a:t>16/07/2026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052F5F-3A4D-49DA-9207-47165B44C00A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C782FC-5AF5-4376-A793-DFD8C88F0C1C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84ACD8D-4760-40C1-A03F-2AB959AC94D9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977878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55227-3650-4BE5-928E-B8F065EEA73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2882FD-96C7-458F-B658-355287FE77A8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C9504B-4CF0-4F23-9961-1B6EA9DA90E2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AF869E-68A4-4740-869B-FF45DFCCB34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6A7AC2E-8C15-4223-89AD-F6D8608250DF}" type="datetime1">
              <a:rPr lang="en-GB" smtClean="0"/>
              <a:t>16/07/2026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BA7771-215E-4C76-A2A8-2ED7AD2682F4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9D1387-4226-4FDF-91FF-F320AC9B9AD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465267D-83F7-4B9F-BBD4-9A4596A6A630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988279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B0ACC-BF7D-4F50-9C92-D7737697E92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7C85E16-9FCC-4D42-89FD-B4B663DBF2AC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 marL="0" indent="0">
              <a:buNone/>
              <a:defRPr lang="en-GB" sz="3200"/>
            </a:lvl1pPr>
          </a:lstStyle>
          <a:p>
            <a:pPr lvl="0"/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52121-155B-4DAF-BBBD-B10A86F3DB44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72D9F2-865D-41A7-A136-E02DD60A9F66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83773FD3-41FC-4DF8-87F2-43FD96DC51F8}" type="datetime1">
              <a:rPr lang="en-GB" smtClean="0"/>
              <a:t>16/07/2026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CEED4B-F2B8-44D8-A31B-C48F01E4F46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6A8D40-9E49-44F7-8F5D-59740800C3B8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348D8A2-74D8-442D-94C6-6912883BE7D6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079328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66F42-F256-4D34-85D3-0E65D07A19C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DC3520-607E-4D7D-8917-F602459E29DF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3D9E15-154B-4753-AD3D-2453AD9B1C84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6B7A7D5-9265-4611-80D0-13F5DF559424}" type="datetime1">
              <a:rPr lang="en-GB" smtClean="0"/>
              <a:t>16/07/2026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D8E49F-2407-4872-BBE9-9F94721E392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329EE0-5C82-4BC2-B69D-DEED5FE44C5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78320DF-69DC-4D5D-BA7C-727CD9A15729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945964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45294B2-FD52-4021-968C-126C9430674B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724903" y="365129"/>
            <a:ext cx="2628899" cy="581183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C47CAD-1132-4AEF-A919-14BEF0CD207C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838203" y="365129"/>
            <a:ext cx="7734296" cy="581183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DA049A-0302-482F-91D1-C051B8299188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CC6BE3E-9BF9-4157-AF0F-5884EB656AEE}" type="datetime1">
              <a:rPr lang="en-GB" smtClean="0"/>
              <a:t>16/07/2026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AA094E-A02F-4B22-AB90-9AB6592C0E7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9AFEBE-D085-4598-AE2B-AA774741BA5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FF4BC80-48B4-4EAB-AAEB-9F4F8AD0735F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925909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933540-B32D-46D3-8A00-AC8948711CE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269567-F111-47AE-872D-2CFF051B605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03C000-A2E4-4F21-BFDA-30B3CB211ED9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052EB6F-F01A-4C7F-8837-494AA6F5600D}" type="datetime1">
              <a:rPr lang="en-GB"/>
              <a:pPr lvl="0"/>
              <a:t>16/07/2026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53F97F-4B2A-4920-A849-387B61F5B921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2CC54A-FB31-44A8-8692-2F0A1070466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1B9929F-084D-4E07-ACED-BED149780FD0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609962"/>
      </p:ext>
    </p:extLst>
  </p:cSld>
  <p:clrMapOvr>
    <a:masterClrMapping/>
  </p:clrMapOvr>
  <p:hf sldNum="0" hdr="0" ft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A80C4-B5E2-46DC-ADC0-D6C557EC958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768E1A-522F-4D6F-860D-C8047D74E38A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047576-2994-42F5-AA45-C0D455651C27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841FCA5-6C9D-48F9-858C-EAF4952FFB00}" type="datetime1">
              <a:rPr lang="en-GB"/>
              <a:pPr lvl="0"/>
              <a:t>16/07/2026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E9E8E3-CAFB-4C04-9B1A-AA7F6E36BB91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3E07C4-0230-4131-AC81-D9A06668702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29C6A3C-F0DE-4587-B6A6-8E7EE78CBA88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614071"/>
      </p:ext>
    </p:extLst>
  </p:cSld>
  <p:clrMapOvr>
    <a:masterClrMapping/>
  </p:clrMapOvr>
  <p:hf sldNum="0" hdr="0" ft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F824A-05C5-4F78-BD21-1605B7FD72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1847" y="1709735"/>
            <a:ext cx="10515600" cy="2852735"/>
          </a:xfrm>
        </p:spPr>
        <p:txBody>
          <a:bodyPr anchor="b"/>
          <a:lstStyle>
            <a:lvl1pPr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CC134A-D0E5-4A39-92B5-7734670FBD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1847" y="4589465"/>
            <a:ext cx="10515600" cy="1500182"/>
          </a:xfrm>
        </p:spPr>
        <p:txBody>
          <a:bodyPr/>
          <a:lstStyle>
            <a:lvl1pPr marL="0" indent="0">
              <a:buNone/>
              <a:defRPr sz="2400"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0FCF32-2B36-4AA2-8E0D-4B25DE0DFE53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39E7514-152E-4C65-9651-D19642D7E55C}" type="datetime1">
              <a:rPr lang="en-GB"/>
              <a:pPr lvl="0"/>
              <a:t>16/07/2026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A9D001-46B6-498C-A127-096E8E36EE4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0CA5A3-958C-4DF8-BB35-1FE5BCC5318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0B6D386-3FA7-4CC8-B32B-C4D73DDCC5DC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850493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02DE1-CAB8-4ABA-8F3B-B0471A4962BA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FBFEBA-FABD-4A22-99B7-F6732EBE2E76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D36175-3FE7-49EF-A0DA-CDD1501475E3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72200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C76EE0-CF86-4E3E-B1AB-D880EE061BB2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32B03DF-B078-440C-ABC1-115D1F362B78}" type="datetime1">
              <a:rPr lang="en-GB"/>
              <a:pPr lvl="0"/>
              <a:t>16/07/2026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D7BDC1-4FF2-42AC-8F6D-DFD9310B3333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064C9A-8708-4E6F-9E45-820BC2E98AE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AF393FD-3DF8-42A5-A8FA-A2BF771A37E3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844962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A4D1E-CDD8-40B0-8055-433F1CDFE24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365129"/>
            <a:ext cx="10515600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423DB5-474F-4F7F-86B8-462E7571A7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9784" y="1681160"/>
            <a:ext cx="5157782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A7EADC-8ACC-47D1-A0CC-53E314C5013F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839784" y="2505071"/>
            <a:ext cx="5157782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32531E8-EB75-428F-ACAF-D019895796E0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72200" y="1681160"/>
            <a:ext cx="5183184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ECC596C-DE5E-4BA0-8BD9-E0555E4DB520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72200" y="2505071"/>
            <a:ext cx="5183184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28B078-B553-4CC2-9691-9CA862EF476A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3948724-37EA-469B-8ACD-BD155539800E}" type="datetime1">
              <a:rPr lang="en-GB"/>
              <a:pPr lvl="0"/>
              <a:t>16/07/2026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6111F6-7239-4273-A090-67FDD2D97E3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1B007E5-88A4-4C84-9A6B-BA27790EC03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24BEE48-1C25-40B6-AE13-9BE115420C05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811068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775EA-C5BB-49E3-A7CB-3CDF5692E44B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026EA4-C3DB-4EBB-9B75-37F28C227BDB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9A18A16-F1AD-4500-8ABF-A49673BC476C}" type="datetime1">
              <a:rPr lang="en-GB"/>
              <a:pPr lvl="0"/>
              <a:t>16/07/2026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CD739B-620B-4FC7-8C7C-436452377E78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5C5685-31DB-4D15-A371-92CB77CB975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62D5E88-FC20-4906-A394-9A34973A1498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648545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03E9D22-4F00-4EE0-B7B0-422A8BD80F72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CB92B84-8FAE-43D9-8D8A-6E4BE2F733B6}" type="datetime1">
              <a:rPr lang="en-GB"/>
              <a:pPr lvl="0"/>
              <a:t>16/07/2026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052F5F-3A4D-49DA-9207-47165B44C00A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C782FC-5AF5-4376-A793-DFD8C88F0C1C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84ACD8D-4760-40C1-A03F-2AB959AC94D9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863284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55227-3650-4BE5-928E-B8F065EEA73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2882FD-96C7-458F-B658-355287FE77A8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C9504B-4CF0-4F23-9961-1B6EA9DA90E2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AF869E-68A4-4740-869B-FF45DFCCB34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127A4E3-BE7C-4F18-BDF9-48672C247F0A}" type="datetime1">
              <a:rPr lang="en-GB"/>
              <a:pPr lvl="0"/>
              <a:t>16/07/2026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BA7771-215E-4C76-A2A8-2ED7AD2682F4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9D1387-4226-4FDF-91FF-F320AC9B9AD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465267D-83F7-4B9F-BBD4-9A4596A6A630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571243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B0ACC-BF7D-4F50-9C92-D7737697E92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7C85E16-9FCC-4D42-89FD-B4B663DBF2AC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 marL="0" indent="0">
              <a:buNone/>
              <a:defRPr lang="en-GB" sz="3200"/>
            </a:lvl1pPr>
          </a:lstStyle>
          <a:p>
            <a:pPr lvl="0"/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52121-155B-4DAF-BBBD-B10A86F3DB44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72D9F2-865D-41A7-A136-E02DD60A9F66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BE98F98-FAC1-4257-AE64-62F41D2CE614}" type="datetime1">
              <a:rPr lang="en-GB"/>
              <a:pPr lvl="0"/>
              <a:t>16/07/2026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CEED4B-F2B8-44D8-A31B-C48F01E4F46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6A8D40-9E49-44F7-8F5D-59740800C3B8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348D8A2-74D8-442D-94C6-6912883BE7D6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01261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66F42-F256-4D34-85D3-0E65D07A19C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DC3520-607E-4D7D-8917-F602459E29DF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3D9E15-154B-4753-AD3D-2453AD9B1C84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E92B8EF-51BF-451E-8853-3192661CB532}" type="datetime1">
              <a:rPr lang="en-GB"/>
              <a:pPr lvl="0"/>
              <a:t>16/07/2026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D8E49F-2407-4872-BBE9-9F94721E392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329EE0-5C82-4BC2-B69D-DEED5FE44C5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78320DF-69DC-4D5D-BA7C-727CD9A15729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793585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45294B2-FD52-4021-968C-126C9430674B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724903" y="365129"/>
            <a:ext cx="2628899" cy="581183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C47CAD-1132-4AEF-A919-14BEF0CD207C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838203" y="365129"/>
            <a:ext cx="7734296" cy="581183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DA049A-0302-482F-91D1-C051B8299188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34687C2-DC16-4038-9B1F-C825568F6269}" type="datetime1">
              <a:rPr lang="en-GB"/>
              <a:pPr lvl="0"/>
              <a:t>16/07/2026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AA094E-A02F-4B22-AB90-9AB6592C0E7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9AFEBE-D085-4598-AE2B-AA774741BA5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FF4BC80-48B4-4EAB-AAEB-9F4F8AD0735F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31602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95688BE-9522-44C2-9AAE-4954F815774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rmAutofit/>
          </a:bodyPr>
          <a:lstStyle/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A41792-B1BB-4C3F-A720-955EB7695B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3" y="1825627"/>
            <a:ext cx="10515600" cy="435133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2B45E8-E5CD-4042-8712-F84CFC563CB9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fld id="{5D78143E-4D2A-1440-AAE2-B3E9E15A8A55}" type="datetime1">
              <a:rPr lang="en-US" smtClean="0"/>
              <a:t>7/16/26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6A0F90-6A06-4C9D-8D79-77D2D24E2645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BC6A3E-9AE2-440F-8B9B-1D45290E06F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fld id="{5D06D67F-9490-484A-ACE9-09B0CE18427A}" type="slidenum"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en-US" sz="4400" b="0" i="0" u="none" strike="noStrike" kern="1200" cap="none" spc="0" baseline="0">
          <a:solidFill>
            <a:srgbClr val="000000"/>
          </a:solidFill>
          <a:uFillTx/>
          <a:latin typeface="Calibri Light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000"/>
        </a:spcBef>
        <a:spcAft>
          <a:spcPts val="0"/>
        </a:spcAft>
        <a:buSzPct val="100000"/>
        <a:buFont typeface="Arial" pitchFamily="34"/>
        <a:buChar char="•"/>
        <a:tabLst/>
        <a:defRPr lang="en-US" sz="2800" b="0" i="0" u="none" strike="noStrike" kern="1200" cap="none" spc="0" baseline="0">
          <a:solidFill>
            <a:srgbClr val="000000"/>
          </a:solidFill>
          <a:uFillTx/>
          <a:latin typeface="Calibri"/>
        </a:defRPr>
      </a:lvl1pPr>
      <a:lvl2pPr marL="685800" marR="0" lvl="1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2400" b="0" i="0" u="none" strike="noStrike" kern="1200" cap="none" spc="0" baseline="0">
          <a:solidFill>
            <a:srgbClr val="000000"/>
          </a:solidFill>
          <a:uFillTx/>
          <a:latin typeface="Calibri"/>
        </a:defRPr>
      </a:lvl2pPr>
      <a:lvl3pPr marL="1143000" marR="0" lvl="2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Calibri"/>
        </a:defRPr>
      </a:lvl3pPr>
      <a:lvl4pPr marL="1600200" marR="0" lvl="3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Calibri"/>
        </a:defRPr>
      </a:lvl4pPr>
      <a:lvl5pPr marL="2057400" marR="0" lvl="4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Calibri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910BCE-8C57-47C5-93D2-77A66D0D17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rmAutofit/>
          </a:bodyPr>
          <a:lstStyle/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133111-9254-45A2-85C8-1D148F66587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3" y="1825627"/>
            <a:ext cx="10515600" cy="435133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E623FE-8F58-4E7C-8ABA-EAFB89703381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fld id="{D4BD6252-48BC-47C0-8C75-64B0DB852D04}" type="datetime1">
              <a:rPr lang="en-GB" smtClean="0"/>
              <a:t>16/07/2026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EAD92E-EB7F-4EDD-A8BA-6E41F7FA7EE2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807734-5447-4810-ABF9-4AD0CF8E5A0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fld id="{73C4C76D-D1C5-4B7E-B9C9-BC66F5CDE924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44951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en-US" sz="4400" b="0" i="0" u="none" strike="noStrike" kern="1200" cap="none" spc="0" baseline="0">
          <a:solidFill>
            <a:srgbClr val="000000"/>
          </a:solidFill>
          <a:uFillTx/>
          <a:latin typeface="Calibri Light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000"/>
        </a:spcBef>
        <a:spcAft>
          <a:spcPts val="0"/>
        </a:spcAft>
        <a:buSzPct val="100000"/>
        <a:buFont typeface="Arial" pitchFamily="34"/>
        <a:buChar char="•"/>
        <a:tabLst/>
        <a:defRPr lang="en-US" sz="2800" b="0" i="0" u="none" strike="noStrike" kern="1200" cap="none" spc="0" baseline="0">
          <a:solidFill>
            <a:srgbClr val="000000"/>
          </a:solidFill>
          <a:uFillTx/>
          <a:latin typeface="Calibri"/>
        </a:defRPr>
      </a:lvl1pPr>
      <a:lvl2pPr marL="685800" marR="0" lvl="1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2400" b="0" i="0" u="none" strike="noStrike" kern="1200" cap="none" spc="0" baseline="0">
          <a:solidFill>
            <a:srgbClr val="000000"/>
          </a:solidFill>
          <a:uFillTx/>
          <a:latin typeface="Calibri"/>
        </a:defRPr>
      </a:lvl2pPr>
      <a:lvl3pPr marL="1143000" marR="0" lvl="2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Calibri"/>
        </a:defRPr>
      </a:lvl3pPr>
      <a:lvl4pPr marL="1600200" marR="0" lvl="3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Calibri"/>
        </a:defRPr>
      </a:lvl4pPr>
      <a:lvl5pPr marL="2057400" marR="0" lvl="4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Calibri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910BCE-8C57-47C5-93D2-77A66D0D17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rmAutofit/>
          </a:bodyPr>
          <a:lstStyle/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133111-9254-45A2-85C8-1D148F66587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3" y="1825627"/>
            <a:ext cx="10515600" cy="435133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E623FE-8F58-4E7C-8ABA-EAFB89703381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fld id="{BB18FF1D-8D7C-4B61-8FC7-67D805AFEAF6}" type="datetime1">
              <a:rPr lang="en-GB"/>
              <a:pPr lvl="0"/>
              <a:t>16/07/2026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EAD92E-EB7F-4EDD-A8BA-6E41F7FA7EE2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807734-5447-4810-ABF9-4AD0CF8E5A0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fld id="{73C4C76D-D1C5-4B7E-B9C9-BC66F5CDE924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48231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en-US" sz="4400" b="0" i="0" u="none" strike="noStrike" kern="1200" cap="none" spc="0" baseline="0">
          <a:solidFill>
            <a:srgbClr val="000000"/>
          </a:solidFill>
          <a:uFillTx/>
          <a:latin typeface="Calibri Light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000"/>
        </a:spcBef>
        <a:spcAft>
          <a:spcPts val="0"/>
        </a:spcAft>
        <a:buSzPct val="100000"/>
        <a:buFont typeface="Arial" pitchFamily="34"/>
        <a:buChar char="•"/>
        <a:tabLst/>
        <a:defRPr lang="en-US" sz="2800" b="0" i="0" u="none" strike="noStrike" kern="1200" cap="none" spc="0" baseline="0">
          <a:solidFill>
            <a:srgbClr val="000000"/>
          </a:solidFill>
          <a:uFillTx/>
          <a:latin typeface="Calibri"/>
        </a:defRPr>
      </a:lvl1pPr>
      <a:lvl2pPr marL="685800" marR="0" lvl="1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2400" b="0" i="0" u="none" strike="noStrike" kern="1200" cap="none" spc="0" baseline="0">
          <a:solidFill>
            <a:srgbClr val="000000"/>
          </a:solidFill>
          <a:uFillTx/>
          <a:latin typeface="Calibri"/>
        </a:defRPr>
      </a:lvl2pPr>
      <a:lvl3pPr marL="1143000" marR="0" lvl="2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Calibri"/>
        </a:defRPr>
      </a:lvl3pPr>
      <a:lvl4pPr marL="1600200" marR="0" lvl="3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Calibri"/>
        </a:defRPr>
      </a:lvl4pPr>
      <a:lvl5pPr marL="2057400" marR="0" lvl="4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Calibri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thispersondoesnotexist.com/" TargetMode="External"/><Relationship Id="rId1" Type="http://schemas.openxmlformats.org/officeDocument/2006/relationships/slideLayout" Target="../slideLayouts/slideLayout2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8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h.github.io/posts/2015-08-Understanding-LSTMs/" TargetMode="Externa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18B2F-9A30-5C41-EF3A-22B103FF1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8">
            <a:extLst>
              <a:ext uri="{FF2B5EF4-FFF2-40B4-BE49-F238E27FC236}">
                <a16:creationId xmlns:a16="http://schemas.microsoft.com/office/drawing/2014/main" id="{B378940E-4BC0-406C-23CC-826FC7047343}"/>
              </a:ext>
            </a:extLst>
          </p:cNvPr>
          <p:cNvSpPr txBox="1"/>
          <p:nvPr/>
        </p:nvSpPr>
        <p:spPr>
          <a:xfrm>
            <a:off x="1258433" y="1680100"/>
            <a:ext cx="6365475" cy="249299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5400" b="1" i="0" u="none" strike="noStrike" kern="1200" cap="none" spc="0" baseline="0" dirty="0">
                <a:solidFill>
                  <a:srgbClr val="006388"/>
                </a:solidFill>
                <a:uFillTx/>
                <a:latin typeface="Fira Sans" pitchFamily="34"/>
                <a:ea typeface="Fira Code" pitchFamily="49"/>
              </a:rPr>
              <a:t>Deep Learning &amp; LLMs 1</a:t>
            </a:r>
          </a:p>
          <a:p>
            <a:pPr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24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Fira Sans" pitchFamily="34"/>
                <a:ea typeface="Fira Code" pitchFamily="49"/>
              </a:rPr>
              <a:t>Applied Text Mining &amp; NLP</a:t>
            </a:r>
          </a:p>
          <a:p>
            <a:pPr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24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Fira Sans" pitchFamily="34"/>
                <a:ea typeface="Fira Code" pitchFamily="49"/>
              </a:rPr>
              <a:t>from Foundations to Advanced</a:t>
            </a:r>
          </a:p>
        </p:txBody>
      </p:sp>
      <p:sp>
        <p:nvSpPr>
          <p:cNvPr id="3" name="TextBox 15">
            <a:extLst>
              <a:ext uri="{FF2B5EF4-FFF2-40B4-BE49-F238E27FC236}">
                <a16:creationId xmlns:a16="http://schemas.microsoft.com/office/drawing/2014/main" id="{3A001E08-D51C-96FC-E1D8-D2FF6A763282}"/>
              </a:ext>
            </a:extLst>
          </p:cNvPr>
          <p:cNvSpPr txBox="1"/>
          <p:nvPr/>
        </p:nvSpPr>
        <p:spPr>
          <a:xfrm>
            <a:off x="1258433" y="5507239"/>
            <a:ext cx="7361779" cy="95410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2800" b="0" i="1" u="none" strike="noStrike" kern="1200" cap="none" spc="0" baseline="0" dirty="0">
                <a:solidFill>
                  <a:srgbClr val="7F7F7F"/>
                </a:solidFill>
                <a:uFillTx/>
                <a:latin typeface="Fira Sans" pitchFamily="34"/>
              </a:rPr>
              <a:t>Robert Bagheri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2800" i="1" dirty="0">
                <a:solidFill>
                  <a:srgbClr val="7F7F7F"/>
                </a:solidFill>
                <a:latin typeface="Fira Sans" pitchFamily="34"/>
              </a:rPr>
              <a:t>2026</a:t>
            </a:r>
          </a:p>
        </p:txBody>
      </p:sp>
      <p:pic>
        <p:nvPicPr>
          <p:cNvPr id="6" name="18069700-hd_1080_1920_24fps.mp4">
            <a:hlinkClick r:id="" action="ppaction://media"/>
            <a:extLst>
              <a:ext uri="{FF2B5EF4-FFF2-40B4-BE49-F238E27FC236}">
                <a16:creationId xmlns:a16="http://schemas.microsoft.com/office/drawing/2014/main" id="{607FDD3C-4C4F-6232-2E55-939240E6E9A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334375" y="0"/>
            <a:ext cx="38576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311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This lecture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1F9E2-0CED-4424-B61F-ED70164FA755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/>
          <a:lstStyle/>
          <a:p>
            <a:pPr lvl="0"/>
            <a:r>
              <a:rPr lang="en-GB" sz="3200" dirty="0">
                <a:solidFill>
                  <a:srgbClr val="404040"/>
                </a:solidFill>
                <a:latin typeface="Fira Sans" pitchFamily="34"/>
              </a:rPr>
              <a:t>Introduction to neural networks</a:t>
            </a:r>
          </a:p>
          <a:p>
            <a:pPr lvl="0"/>
            <a:r>
              <a:rPr lang="en-GB" sz="3200" dirty="0">
                <a:solidFill>
                  <a:srgbClr val="404040"/>
                </a:solidFill>
                <a:latin typeface="Fira Sans" pitchFamily="34"/>
              </a:rPr>
              <a:t>Feed-forward &amp; deep neural networks</a:t>
            </a:r>
          </a:p>
          <a:p>
            <a:pPr lvl="0"/>
            <a:r>
              <a:rPr lang="en-GB" sz="3200" dirty="0">
                <a:solidFill>
                  <a:srgbClr val="404040"/>
                </a:solidFill>
                <a:latin typeface="Fira Sans" pitchFamily="34"/>
              </a:rPr>
              <a:t>Recurrent neural networks</a:t>
            </a:r>
            <a:endParaRPr lang="en-GB" sz="3200" b="1" dirty="0">
              <a:solidFill>
                <a:srgbClr val="404040"/>
              </a:solidFill>
              <a:latin typeface="Fira Sans" pitchFamily="34"/>
            </a:endParaRPr>
          </a:p>
        </p:txBody>
      </p:sp>
    </p:spTree>
    <p:extLst>
      <p:ext uri="{BB962C8B-B14F-4D97-AF65-F5344CB8AC3E}">
        <p14:creationId xmlns:p14="http://schemas.microsoft.com/office/powerpoint/2010/main" val="42255178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7C44-1664-8C07-7392-D48EB4F32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08FD8-5529-C977-E875-BD3E07326B5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Text mining process</a:t>
            </a:r>
            <a:endParaRPr lang="en-GB" sz="1800" kern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BC9174-7481-66FE-E7F0-477866F0B407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229C6A3C-F0DE-4587-B6A6-8E7EE78CBA88}" type="slidenum">
              <a:rPr lang="en-US" smtClean="0"/>
              <a:t>3</a:t>
            </a:fld>
            <a:endParaRPr lang="en-US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4B092884-3A5D-182D-5054-07D0ABD9B8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0181" y="1355904"/>
            <a:ext cx="9291637" cy="5365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19769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3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C3136-3CE2-4372-9CD9-CAAA784CC7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2766215"/>
            <a:ext cx="10515600" cy="1325559"/>
          </a:xfrm>
        </p:spPr>
        <p:txBody>
          <a:bodyPr anchorCtr="1"/>
          <a:lstStyle/>
          <a:p>
            <a:pPr lvl="0" algn="ctr">
              <a:lnSpc>
                <a:spcPct val="100000"/>
              </a:lnSpc>
            </a:pPr>
            <a:r>
              <a:rPr lang="en-GB" sz="5400" b="1" kern="0" dirty="0">
                <a:solidFill>
                  <a:srgbClr val="FFFFFF"/>
                </a:solidFill>
                <a:latin typeface="Fira Sans" pitchFamily="34"/>
                <a:ea typeface="Fira Code" pitchFamily="49"/>
              </a:rPr>
              <a:t>Introduction</a:t>
            </a:r>
            <a:endParaRPr lang="en-GB" sz="1800" kern="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Why should we learn this?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1F9E2-0CED-4424-B61F-ED70164FA755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GB" sz="3200" b="1" dirty="0">
                <a:solidFill>
                  <a:srgbClr val="404040"/>
                </a:solidFill>
                <a:latin typeface="Fira Sans" pitchFamily="34"/>
              </a:rPr>
              <a:t>State-of-the-art performance on various tasks</a:t>
            </a:r>
          </a:p>
          <a:p>
            <a:pPr lvl="1"/>
            <a:r>
              <a:rPr lang="en-GB" sz="2800" dirty="0">
                <a:solidFill>
                  <a:srgbClr val="404040"/>
                </a:solidFill>
                <a:latin typeface="Fira Sans" pitchFamily="34"/>
              </a:rPr>
              <a:t>Text prediction (your phone’s keyboard)</a:t>
            </a:r>
          </a:p>
          <a:p>
            <a:pPr lvl="1"/>
            <a:r>
              <a:rPr lang="en-GB" sz="2800" dirty="0">
                <a:solidFill>
                  <a:srgbClr val="404040"/>
                </a:solidFill>
                <a:latin typeface="Fira Sans" pitchFamily="34"/>
              </a:rPr>
              <a:t>Forecasting</a:t>
            </a:r>
          </a:p>
          <a:p>
            <a:pPr lvl="1"/>
            <a:r>
              <a:rPr lang="en-GB" sz="2800" dirty="0">
                <a:solidFill>
                  <a:srgbClr val="404040"/>
                </a:solidFill>
                <a:latin typeface="Fira Sans" pitchFamily="34"/>
              </a:rPr>
              <a:t>Spam filtering</a:t>
            </a:r>
          </a:p>
          <a:p>
            <a:pPr lvl="1"/>
            <a:r>
              <a:rPr lang="en-GB" sz="2800" dirty="0">
                <a:solidFill>
                  <a:srgbClr val="404040"/>
                </a:solidFill>
                <a:latin typeface="Fira Sans" pitchFamily="34"/>
              </a:rPr>
              <a:t>Compression (dimension reduction)</a:t>
            </a:r>
          </a:p>
          <a:p>
            <a:pPr lvl="1"/>
            <a:r>
              <a:rPr lang="en-GB" sz="2800" dirty="0">
                <a:solidFill>
                  <a:srgbClr val="404040"/>
                </a:solidFill>
                <a:latin typeface="Fira Sans" pitchFamily="34"/>
              </a:rPr>
              <a:t>Text generation</a:t>
            </a:r>
          </a:p>
          <a:p>
            <a:pPr lvl="1"/>
            <a:r>
              <a:rPr lang="en-GB" sz="2800" dirty="0">
                <a:solidFill>
                  <a:srgbClr val="404040"/>
                </a:solidFill>
                <a:latin typeface="Fira Sans" pitchFamily="34"/>
              </a:rPr>
              <a:t>Translation</a:t>
            </a:r>
          </a:p>
          <a:p>
            <a:pPr lvl="1"/>
            <a:r>
              <a:rPr lang="en-GB" sz="2800" dirty="0">
                <a:solidFill>
                  <a:srgbClr val="404040"/>
                </a:solidFill>
                <a:latin typeface="Fira Sans" pitchFamily="34"/>
              </a:rPr>
              <a:t>…</a:t>
            </a:r>
          </a:p>
          <a:p>
            <a:pPr lvl="1"/>
            <a:endParaRPr lang="en-GB" sz="2800" dirty="0">
              <a:solidFill>
                <a:srgbClr val="404040"/>
              </a:solidFill>
              <a:latin typeface="Fira Sans" pitchFamily="34"/>
            </a:endParaRPr>
          </a:p>
          <a:p>
            <a:pPr lvl="1"/>
            <a:endParaRPr lang="en-GB" sz="2800" dirty="0">
              <a:solidFill>
                <a:srgbClr val="404040"/>
              </a:solidFill>
              <a:latin typeface="Fira Sans" pitchFamily="34"/>
            </a:endParaRPr>
          </a:p>
        </p:txBody>
      </p:sp>
    </p:spTree>
    <p:extLst>
      <p:ext uri="{BB962C8B-B14F-4D97-AF65-F5344CB8AC3E}">
        <p14:creationId xmlns:p14="http://schemas.microsoft.com/office/powerpoint/2010/main" val="11649464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1F9E2-0CED-4424-B61F-ED70164FA755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376881"/>
            <a:ext cx="10515600" cy="6115989"/>
          </a:xfrm>
        </p:spPr>
        <p:txBody>
          <a:bodyPr anchor="ctr"/>
          <a:lstStyle/>
          <a:p>
            <a:pPr marL="0" lvl="0" indent="0" algn="ctr">
              <a:buNone/>
            </a:pPr>
            <a:r>
              <a:rPr lang="en-GB" sz="3200" i="1" dirty="0">
                <a:solidFill>
                  <a:srgbClr val="404040"/>
                </a:solidFill>
                <a:latin typeface="Fira Sans" pitchFamily="34"/>
                <a:hlinkClick r:id="rId2"/>
              </a:rPr>
              <a:t>https://thispersondoesnotexist.com/</a:t>
            </a:r>
            <a:r>
              <a:rPr lang="en-GB" sz="3200" i="1" dirty="0">
                <a:solidFill>
                  <a:srgbClr val="404040"/>
                </a:solidFill>
                <a:latin typeface="Fira Sans" pitchFamily="34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822984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cture containing text, different&#10;&#10;Description automatically generated">
            <a:extLst>
              <a:ext uri="{FF2B5EF4-FFF2-40B4-BE49-F238E27FC236}">
                <a16:creationId xmlns:a16="http://schemas.microsoft.com/office/drawing/2014/main" id="{E308198E-6E1F-48F4-851D-5DFD093846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09611"/>
            <a:ext cx="12192000" cy="603877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E324159-BBA4-4E09-AA94-FE42ED89135D}"/>
              </a:ext>
            </a:extLst>
          </p:cNvPr>
          <p:cNvSpPr txBox="1"/>
          <p:nvPr/>
        </p:nvSpPr>
        <p:spPr>
          <a:xfrm>
            <a:off x="9539416" y="6488668"/>
            <a:ext cx="26525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NL" sz="18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75000"/>
                  </a:srgbClr>
                </a:solidFill>
                <a:effectLst/>
                <a:uLnTx/>
                <a:uFillTx/>
                <a:latin typeface="Fira Sans" panose="020B0503050000020004" pitchFamily="34" charset="0"/>
                <a:ea typeface="Fira Sans" panose="020B0503050000020004" pitchFamily="34" charset="0"/>
                <a:cs typeface="+mn-cs"/>
              </a:rPr>
              <a:t>http://bethgelab.org</a:t>
            </a:r>
          </a:p>
        </p:txBody>
      </p:sp>
    </p:spTree>
    <p:extLst>
      <p:ext uri="{BB962C8B-B14F-4D97-AF65-F5344CB8AC3E}">
        <p14:creationId xmlns:p14="http://schemas.microsoft.com/office/powerpoint/2010/main" val="41762042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video game&#10;&#10;Description automatically generated">
            <a:extLst>
              <a:ext uri="{FF2B5EF4-FFF2-40B4-BE49-F238E27FC236}">
                <a16:creationId xmlns:a16="http://schemas.microsoft.com/office/drawing/2014/main" id="{5A31A821-A132-42B8-82E3-A598D5A63E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4525" y="1804987"/>
            <a:ext cx="8362950" cy="324802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AC4765D-EDE8-400E-B41A-87DAE7D054BF}"/>
              </a:ext>
            </a:extLst>
          </p:cNvPr>
          <p:cNvSpPr txBox="1"/>
          <p:nvPr/>
        </p:nvSpPr>
        <p:spPr>
          <a:xfrm>
            <a:off x="6816297" y="5934670"/>
            <a:ext cx="53757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NL" sz="18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75000"/>
                  </a:srgbClr>
                </a:solidFill>
                <a:effectLst/>
                <a:uLnTx/>
                <a:uFillTx/>
                <a:latin typeface="Fira Sans" panose="020B0503050000020004" pitchFamily="34" charset="0"/>
                <a:ea typeface="Fira Sans" panose="020B0503050000020004" pitchFamily="34" charset="0"/>
                <a:cs typeface="+mn-cs"/>
              </a:rPr>
              <a:t>https://community.canvaslms.com/t5/Canvas-Developers-Group/Canvas-LMS-Cheat-Detection-System-In-Python/m-p/118134</a:t>
            </a:r>
          </a:p>
        </p:txBody>
      </p:sp>
    </p:spTree>
    <p:extLst>
      <p:ext uri="{BB962C8B-B14F-4D97-AF65-F5344CB8AC3E}">
        <p14:creationId xmlns:p14="http://schemas.microsoft.com/office/powerpoint/2010/main" val="30475837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“Hello world” of neural networks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1F9E2-0CED-4424-B61F-ED70164FA755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3709080" cy="4667243"/>
          </a:xfrm>
        </p:spPr>
        <p:txBody>
          <a:bodyPr>
            <a:normAutofit fontScale="92500"/>
          </a:bodyPr>
          <a:lstStyle/>
          <a:p>
            <a:r>
              <a:rPr lang="en-GB" sz="3200" dirty="0">
                <a:solidFill>
                  <a:srgbClr val="404040"/>
                </a:solidFill>
                <a:latin typeface="Fira Sans" pitchFamily="34"/>
              </a:rPr>
              <a:t>MNIST </a:t>
            </a:r>
            <a:r>
              <a:rPr lang="en-GB" sz="3200" dirty="0">
                <a:solidFill>
                  <a:schemeClr val="bg2">
                    <a:lumMod val="75000"/>
                  </a:schemeClr>
                </a:solidFill>
                <a:latin typeface="Fira Sans" pitchFamily="34"/>
              </a:rPr>
              <a:t>(</a:t>
            </a:r>
            <a:r>
              <a:rPr lang="en-US" sz="3200" dirty="0">
                <a:solidFill>
                  <a:schemeClr val="bg2">
                    <a:lumMod val="75000"/>
                  </a:schemeClr>
                </a:solidFill>
                <a:latin typeface="Fira Sans" pitchFamily="34"/>
              </a:rPr>
              <a:t>Modified National Institute of Standards and Technology)</a:t>
            </a:r>
            <a:endParaRPr lang="en-GB" sz="3200" dirty="0">
              <a:solidFill>
                <a:schemeClr val="bg2">
                  <a:lumMod val="75000"/>
                </a:schemeClr>
              </a:solidFill>
              <a:latin typeface="Fira Sans" pitchFamily="34"/>
            </a:endParaRPr>
          </a:p>
          <a:p>
            <a:r>
              <a:rPr lang="en-GB" sz="3200" dirty="0">
                <a:solidFill>
                  <a:srgbClr val="404040"/>
                </a:solidFill>
                <a:latin typeface="Fira Sans" pitchFamily="34"/>
              </a:rPr>
              <a:t>Handwritten digits</a:t>
            </a:r>
          </a:p>
          <a:p>
            <a:r>
              <a:rPr lang="en-GB" sz="3200" dirty="0">
                <a:solidFill>
                  <a:srgbClr val="404040"/>
                </a:solidFill>
                <a:latin typeface="Fira Sans" pitchFamily="34"/>
              </a:rPr>
              <a:t>28 * 28 pixels</a:t>
            </a:r>
          </a:p>
          <a:p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60 000 training images and 10 000 testing images</a:t>
            </a:r>
            <a:endParaRPr lang="en-GB" sz="3200" dirty="0">
              <a:solidFill>
                <a:srgbClr val="404040"/>
              </a:solidFill>
              <a:latin typeface="Fira Sans" pitchFamily="34"/>
            </a:endParaRPr>
          </a:p>
        </p:txBody>
      </p:sp>
      <p:pic>
        <p:nvPicPr>
          <p:cNvPr id="5" name="Picture 4" descr="Text, letter&#10;&#10;Description automatically generated">
            <a:extLst>
              <a:ext uri="{FF2B5EF4-FFF2-40B4-BE49-F238E27FC236}">
                <a16:creationId xmlns:a16="http://schemas.microsoft.com/office/drawing/2014/main" id="{CCE88512-6A87-4D7C-8620-6B91A7E83F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7283" y="1825627"/>
            <a:ext cx="6806514" cy="4083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78755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E0E0C-7245-0ADE-A9FC-45E711D83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4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“Hello world” of neural networks for text: Sentiment classification with LSTM</a:t>
            </a:r>
            <a:endParaRPr lang="en-NL" dirty="0"/>
          </a:p>
        </p:txBody>
      </p:sp>
      <p:pic>
        <p:nvPicPr>
          <p:cNvPr id="1030" name="Picture 6" descr="Text Classification &amp; Sentiment Analysis | Machine Learning Archive">
            <a:extLst>
              <a:ext uri="{FF2B5EF4-FFF2-40B4-BE49-F238E27FC236}">
                <a16:creationId xmlns:a16="http://schemas.microsoft.com/office/drawing/2014/main" id="{A6DA814D-23A9-02B2-AECB-3EDB2817F86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097" b="16460"/>
          <a:stretch/>
        </p:blipFill>
        <p:spPr bwMode="auto">
          <a:xfrm>
            <a:off x="7583705" y="1814946"/>
            <a:ext cx="4234223" cy="11718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Tutorial: Sentiment Analysis | wb-tutorials – Weights &amp; Biases">
            <a:extLst>
              <a:ext uri="{FF2B5EF4-FFF2-40B4-BE49-F238E27FC236}">
                <a16:creationId xmlns:a16="http://schemas.microsoft.com/office/drawing/2014/main" id="{2854A5BA-D29C-E208-2485-028F122B22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1462" y="2515696"/>
            <a:ext cx="5933226" cy="38712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62103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3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C3136-3CE2-4372-9CD9-CAAA784CC7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2766215"/>
            <a:ext cx="10515600" cy="1325559"/>
          </a:xfrm>
        </p:spPr>
        <p:txBody>
          <a:bodyPr anchorCtr="1"/>
          <a:lstStyle/>
          <a:p>
            <a:pPr lvl="0" algn="ctr">
              <a:lnSpc>
                <a:spcPct val="100000"/>
              </a:lnSpc>
            </a:pPr>
            <a:r>
              <a:rPr lang="en-GB" sz="5400" b="1" kern="0" dirty="0">
                <a:solidFill>
                  <a:srgbClr val="FFFFFF"/>
                </a:solidFill>
                <a:latin typeface="Fira Sans" pitchFamily="34"/>
                <a:ea typeface="Fira Code" pitchFamily="49"/>
              </a:rPr>
              <a:t>So what is a neural network?</a:t>
            </a:r>
            <a:endParaRPr lang="en-GB" sz="1800" kern="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92449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Neural networks</a:t>
            </a:r>
            <a:endParaRPr lang="en-GB" sz="1800" kern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11F9E2-0CED-4424-B61F-ED70164FA755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838203" y="1825627"/>
                <a:ext cx="10515600" cy="4667243"/>
              </a:xfrm>
            </p:spPr>
            <p:txBody>
              <a:bodyPr/>
              <a:lstStyle/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solidFill>
                            <a:srgbClr val="40404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sz="3200" b="0" i="1" smtClean="0">
                          <a:solidFill>
                            <a:srgbClr val="40404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200" b="0" i="1" smtClean="0">
                          <a:solidFill>
                            <a:srgbClr val="40404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GB" sz="3200" b="0" i="1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GB" sz="3200" b="0" i="1" smtClean="0">
                          <a:solidFill>
                            <a:srgbClr val="40404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r>
                        <m:rPr>
                          <m:sty m:val="p"/>
                        </m:rPr>
                        <a:rPr lang="en-GB" sz="3200" b="0" i="1" smtClean="0">
                          <a:solidFill>
                            <a:srgbClr val="404040"/>
                          </a:solidFill>
                          <a:latin typeface="Cambria Math" panose="02040503050406030204" pitchFamily="18" charset="0"/>
                        </a:rPr>
                        <m:t>ϵ</m:t>
                      </m:r>
                    </m:oMath>
                  </m:oMathPara>
                </a14:m>
                <a:endParaRPr lang="en-GB" sz="3200" b="0" dirty="0">
                  <a:solidFill>
                    <a:srgbClr val="404040"/>
                  </a:solidFill>
                  <a:latin typeface="Fira Sans" pitchFamily="34"/>
                </a:endParaRPr>
              </a:p>
              <a:p>
                <a:pPr marL="0" lvl="0" indent="0">
                  <a:buNone/>
                </a:pPr>
                <a:endParaRPr lang="en-GB" sz="3200" dirty="0">
                  <a:solidFill>
                    <a:srgbClr val="404040"/>
                  </a:solidFill>
                  <a:latin typeface="Fira Sans" pitchFamily="34"/>
                </a:endParaRPr>
              </a:p>
              <a:p>
                <a:r>
                  <a:rPr lang="en-GB" sz="3200" dirty="0">
                    <a:solidFill>
                      <a:srgbClr val="404040"/>
                    </a:solidFill>
                    <a:latin typeface="Fira Sans" pitchFamily="34"/>
                  </a:rPr>
                  <a:t>Neural networks are a way to specify </a:t>
                </a:r>
                <a14:m>
                  <m:oMath xmlns:m="http://schemas.openxmlformats.org/officeDocument/2006/math">
                    <m:r>
                      <a:rPr lang="en-GB" sz="3200" b="0" i="1" smtClean="0">
                        <a:solidFill>
                          <a:srgbClr val="40404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GB" sz="3200" b="0" i="1" smtClean="0">
                            <a:solidFill>
                              <a:srgbClr val="40404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3200" b="0" i="1" smtClean="0">
                            <a:solidFill>
                              <a:srgbClr val="40404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endParaRPr lang="en-GB" sz="3200" dirty="0">
                  <a:solidFill>
                    <a:srgbClr val="404040"/>
                  </a:solidFill>
                  <a:latin typeface="Fira Sans" pitchFamily="34"/>
                </a:endParaRPr>
              </a:p>
              <a:p>
                <a:r>
                  <a:rPr lang="en-GB" sz="3200" dirty="0">
                    <a:solidFill>
                      <a:srgbClr val="404040"/>
                    </a:solidFill>
                    <a:latin typeface="Fira Sans" pitchFamily="34"/>
                  </a:rPr>
                  <a:t>You can display </a:t>
                </a:r>
                <a14:m>
                  <m:oMath xmlns:m="http://schemas.openxmlformats.org/officeDocument/2006/math">
                    <m:r>
                      <a:rPr lang="en-GB" sz="3200" b="0" i="1" smtClean="0">
                        <a:solidFill>
                          <a:srgbClr val="40404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GB" sz="3200" b="0" i="1" smtClean="0">
                            <a:solidFill>
                              <a:srgbClr val="40404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3200" b="0" i="1" smtClean="0">
                            <a:solidFill>
                              <a:srgbClr val="40404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GB" sz="3200" b="0" i="1" smtClean="0">
                        <a:solidFill>
                          <a:srgbClr val="40404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3200" dirty="0">
                    <a:solidFill>
                      <a:srgbClr val="404040"/>
                    </a:solidFill>
                    <a:latin typeface="Fira Sans" pitchFamily="34"/>
                  </a:rPr>
                  <a:t>graphically</a:t>
                </a:r>
              </a:p>
              <a:p>
                <a:endParaRPr lang="en-GB" sz="3200" dirty="0">
                  <a:solidFill>
                    <a:srgbClr val="404040"/>
                  </a:solidFill>
                  <a:latin typeface="Fira Sans" pitchFamily="34"/>
                </a:endParaRPr>
              </a:p>
              <a:p>
                <a:r>
                  <a:rPr lang="en-GB" sz="3200" dirty="0">
                    <a:solidFill>
                      <a:srgbClr val="404040"/>
                    </a:solidFill>
                    <a:latin typeface="Fira Sans" pitchFamily="34"/>
                  </a:rPr>
                  <a:t>Let’s graphically represent linear regression!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solidFill>
                            <a:srgbClr val="40404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GB" sz="3200" b="0" i="1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3200" b="0" i="1" smtClean="0">
                                  <a:solidFill>
                                    <a:srgbClr val="40404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200" b="0" i="1" smtClean="0">
                                  <a:solidFill>
                                    <a:srgbClr val="40404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3200" b="0" i="1" smtClean="0">
                                  <a:solidFill>
                                    <a:srgbClr val="40404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GB" sz="3200" b="0" i="1" smtClean="0">
                          <a:solidFill>
                            <a:srgbClr val="40404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GB" sz="3200" b="0" i="1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5"/>
                            </m:rPr>
                            <a:rPr lang="en-GB" sz="3200" b="0" i="1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GB" sz="3200" b="0" i="1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5"/>
                            </m:rPr>
                            <a:rPr lang="en-GB" sz="3200" b="0" i="1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sz="3200" b="0" i="1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sup>
                        <m:e>
                          <m:sSub>
                            <m:sSubPr>
                              <m:ctrlPr>
                                <a:rPr lang="en-GB" sz="3200" b="0" i="1" smtClean="0">
                                  <a:solidFill>
                                    <a:srgbClr val="40404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200" b="0" i="1" smtClean="0">
                                  <a:solidFill>
                                    <a:srgbClr val="404040"/>
                                  </a:solidFill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GB" sz="3200" b="0" i="1" smtClean="0">
                                  <a:solidFill>
                                    <a:srgbClr val="40404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3200" b="0" i="1" smtClean="0">
                                  <a:solidFill>
                                    <a:srgbClr val="40404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200" b="0" i="1" smtClean="0">
                                  <a:solidFill>
                                    <a:srgbClr val="40404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3200" b="0" i="1" smtClean="0">
                                  <a:solidFill>
                                    <a:srgbClr val="404040"/>
                                  </a:solidFill>
                                  <a:latin typeface="Cambria Math" panose="02040503050406030204" pitchFamily="18" charset="0"/>
                                </a:rPr>
                                <m:t>𝑝𝑖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3200" dirty="0">
                  <a:solidFill>
                    <a:srgbClr val="404040"/>
                  </a:solidFill>
                  <a:latin typeface="Fira Sans" pitchFamily="34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11F9E2-0CED-4424-B61F-ED70164FA75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3" y="1825627"/>
                <a:ext cx="10515600" cy="4667243"/>
              </a:xfrm>
              <a:blipFill>
                <a:blip r:embed="rId2"/>
                <a:stretch>
                  <a:fillRect l="-1333"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80283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FEFF8C5D-CC31-4EE4-B1BC-8AB81F21E9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469358" y="1849576"/>
            <a:ext cx="7359616" cy="4667249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Linear regression as neural net</a:t>
            </a:r>
            <a:endParaRPr lang="en-GB" sz="1800" kern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8FF5746-98B5-4C94-8D74-47A750EA6812}"/>
                  </a:ext>
                </a:extLst>
              </p:cNvPr>
              <p:cNvSpPr txBox="1"/>
              <p:nvPr/>
            </p:nvSpPr>
            <p:spPr>
              <a:xfrm>
                <a:off x="5211480" y="1849576"/>
                <a:ext cx="6096000" cy="6896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GB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𝑓</m:t>
                      </m:r>
                      <m:d>
                        <m:dPr>
                          <m:ctrlPr>
                            <a:rPr kumimoji="0" lang="en-GB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40404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GB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40404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GB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40404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</m:e>
                            <m:sub>
                              <m:r>
                                <a:rPr kumimoji="0" lang="en-GB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40404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kumimoji="0" lang="en-GB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𝛼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nary>
                        <m:naryPr>
                          <m:chr m:val="∑"/>
                          <m:limLoc m:val="subSup"/>
                          <m:ctrlPr>
                            <a:rPr kumimoji="0" lang="en-GB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40404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5"/>
                            </m:rPr>
                            <a:rPr kumimoji="0" lang="en-GB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40404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𝑝</m:t>
                          </m:r>
                          <m:r>
                            <a:rPr kumimoji="0" lang="en-GB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40404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=1</m:t>
                          </m:r>
                        </m:sub>
                        <m:sup>
                          <m:r>
                            <a:rPr kumimoji="0" lang="en-GB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40404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𝑃</m:t>
                          </m:r>
                        </m:sup>
                        <m:e>
                          <m:sSub>
                            <m:sSubPr>
                              <m:ctrlPr>
                                <a:rPr kumimoji="0" lang="en-GB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40404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GB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40404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𝛽</m:t>
                              </m:r>
                            </m:e>
                            <m:sub>
                              <m:r>
                                <a:rPr kumimoji="0" lang="en-GB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40404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𝑝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GB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40404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GB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40404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en-GB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40404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𝑝𝑖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en-NL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8FF5746-98B5-4C94-8D74-47A750EA68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1480" y="1849576"/>
                <a:ext cx="6096000" cy="68967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17EF15E-6B33-4859-8D31-1C11CFA4B98A}"/>
              </a:ext>
            </a:extLst>
          </p:cNvPr>
          <p:cNvSpPr txBox="1">
            <a:spLocks/>
          </p:cNvSpPr>
          <p:nvPr/>
        </p:nvSpPr>
        <p:spPr>
          <a:xfrm>
            <a:off x="838203" y="1825627"/>
            <a:ext cx="5500604" cy="46672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>
            <a:lvl1pPr marL="228600" marR="0" lvl="0" indent="-228600" algn="l" defTabSz="914400" rtl="0" fontAlgn="auto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en-US" sz="2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  <a:lvl2pPr marL="685800" marR="0" lvl="1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2pPr>
            <a:lvl3pPr marL="1143000" marR="0" lvl="2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en-US" sz="20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3pPr>
            <a:lvl4pPr marL="1600200" marR="0" lvl="3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en-US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4pPr>
            <a:lvl5pPr marL="2057400" marR="0" lvl="4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en-US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 pitchFamily="34"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ira Sans" pitchFamily="34"/>
                <a:ea typeface="+mn-ea"/>
                <a:cs typeface="+mn-cs"/>
              </a:rPr>
              <a:t>Graphical representation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 pitchFamily="34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ira Sans" pitchFamily="34"/>
                <a:ea typeface="+mn-ea"/>
                <a:cs typeface="+mn-cs"/>
              </a:rPr>
              <a:t>Parameters are arrows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 pitchFamily="34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ira Sans" pitchFamily="34"/>
                <a:ea typeface="+mn-ea"/>
                <a:cs typeface="+mn-cs"/>
              </a:rPr>
              <a:t>Arrows ending in a node are summed together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 pitchFamily="34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ira Sans" pitchFamily="34"/>
                <a:ea typeface="+mn-ea"/>
                <a:cs typeface="+mn-cs"/>
              </a:rPr>
              <a:t>Intercept is not drawn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 pitchFamily="34"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Fira Sans" pitchFamily="3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628499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Linear regression as neural net</a:t>
            </a:r>
            <a:endParaRPr lang="en-GB" sz="1800" kern="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CB4CB37-5B4F-4DE4-B4E3-FCA404A842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469358" y="1849576"/>
            <a:ext cx="7359616" cy="4667249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8FF5746-98B5-4C94-8D74-47A750EA6812}"/>
                  </a:ext>
                </a:extLst>
              </p:cNvPr>
              <p:cNvSpPr txBox="1"/>
              <p:nvPr/>
            </p:nvSpPr>
            <p:spPr>
              <a:xfrm>
                <a:off x="5211480" y="1849576"/>
                <a:ext cx="6096000" cy="6896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GB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𝑓</m:t>
                      </m:r>
                      <m:d>
                        <m:dPr>
                          <m:ctrlPr>
                            <a:rPr kumimoji="0" lang="en-GB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40404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GB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40404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GB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40404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</m:e>
                            <m:sub>
                              <m:r>
                                <a:rPr kumimoji="0" lang="en-GB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40404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kumimoji="0" lang="en-GB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US" sz="1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6388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𝜷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nary>
                        <m:naryPr>
                          <m:chr m:val="∑"/>
                          <m:limLoc m:val="subSup"/>
                          <m:ctrlPr>
                            <a:rPr kumimoji="0" lang="en-GB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40404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5"/>
                            </m:rPr>
                            <a:rPr kumimoji="0" lang="en-GB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40404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𝑝</m:t>
                          </m:r>
                          <m:r>
                            <a:rPr kumimoji="0" lang="en-GB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40404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=1</m:t>
                          </m:r>
                        </m:sub>
                        <m:sup>
                          <m:r>
                            <a:rPr kumimoji="0" lang="en-GB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40404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𝑃</m:t>
                          </m:r>
                        </m:sup>
                        <m:e>
                          <m:sSub>
                            <m:sSubPr>
                              <m:ctrlPr>
                                <a:rPr kumimoji="0" lang="en-GB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40404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6388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𝒘</m:t>
                              </m:r>
                            </m:e>
                            <m:sub>
                              <m:r>
                                <a:rPr kumimoji="0" lang="en-GB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40404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𝑝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GB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40404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GB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40404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en-GB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40404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𝑝𝑖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en-NL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8FF5746-98B5-4C94-8D74-47A750EA68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1480" y="1849576"/>
                <a:ext cx="6096000" cy="68967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17EF15E-6B33-4859-8D31-1C11CFA4B98A}"/>
              </a:ext>
            </a:extLst>
          </p:cNvPr>
          <p:cNvSpPr txBox="1">
            <a:spLocks/>
          </p:cNvSpPr>
          <p:nvPr/>
        </p:nvSpPr>
        <p:spPr>
          <a:xfrm>
            <a:off x="838203" y="1825628"/>
            <a:ext cx="5500604" cy="46672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>
            <a:lvl1pPr marL="228600" marR="0" lvl="0" indent="-228600" algn="l" defTabSz="914400" rtl="0" fontAlgn="auto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en-US" sz="2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  <a:lvl2pPr marL="685800" marR="0" lvl="1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2pPr>
            <a:lvl3pPr marL="1143000" marR="0" lvl="2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en-US" sz="20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3pPr>
            <a:lvl4pPr marL="1600200" marR="0" lvl="3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en-US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4pPr>
            <a:lvl5pPr marL="2057400" marR="0" lvl="4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en-US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 pitchFamily="34"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ira Sans" pitchFamily="34"/>
                <a:ea typeface="+mn-ea"/>
                <a:cs typeface="+mn-cs"/>
              </a:rPr>
              <a:t>Neural network jargon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 pitchFamily="34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ira Sans" pitchFamily="34"/>
                <a:ea typeface="+mn-ea"/>
                <a:cs typeface="+mn-cs"/>
              </a:rPr>
              <a:t>Parameter = </a:t>
            </a:r>
            <a:r>
              <a: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006388"/>
                </a:solidFill>
                <a:effectLst/>
                <a:uLnTx/>
                <a:uFillTx/>
                <a:latin typeface="Fira Sans" pitchFamily="34"/>
                <a:ea typeface="+mn-ea"/>
                <a:cs typeface="+mn-cs"/>
              </a:rPr>
              <a:t>weight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 pitchFamily="34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ira Sans" pitchFamily="34"/>
                <a:ea typeface="+mn-ea"/>
                <a:cs typeface="+mn-cs"/>
              </a:rPr>
              <a:t>Intercept = </a:t>
            </a:r>
            <a:r>
              <a: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006388"/>
                </a:solidFill>
                <a:effectLst/>
                <a:uLnTx/>
                <a:uFillTx/>
                <a:latin typeface="Fira Sans" pitchFamily="34"/>
                <a:ea typeface="+mn-ea"/>
                <a:cs typeface="+mn-cs"/>
              </a:rPr>
              <a:t>bias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 pitchFamily="34"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Fira Sans" pitchFamily="3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235749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Single layer neural networks</a:t>
            </a:r>
            <a:endParaRPr lang="en-GB" sz="1800" kern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11F9E2-0CED-4424-B61F-ED70164FA755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838203" y="1825627"/>
                <a:ext cx="10515600" cy="4667243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solidFill>
                            <a:srgbClr val="40404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sz="3200" b="0" i="1" smtClean="0">
                          <a:solidFill>
                            <a:srgbClr val="40404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200" b="0" i="1" smtClean="0">
                          <a:solidFill>
                            <a:srgbClr val="40404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GB" sz="3200" b="0" i="1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GB" sz="3200" b="0" i="1" smtClean="0">
                          <a:solidFill>
                            <a:srgbClr val="40404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r>
                        <m:rPr>
                          <m:sty m:val="p"/>
                        </m:rPr>
                        <a:rPr lang="en-GB" sz="3200" b="0" i="1" smtClean="0">
                          <a:solidFill>
                            <a:srgbClr val="404040"/>
                          </a:solidFill>
                          <a:latin typeface="Cambria Math" panose="02040503050406030204" pitchFamily="18" charset="0"/>
                        </a:rPr>
                        <m:t>ϵ</m:t>
                      </m:r>
                    </m:oMath>
                  </m:oMathPara>
                </a14:m>
                <a:endParaRPr lang="en-GB" sz="3200" b="0" dirty="0">
                  <a:solidFill>
                    <a:srgbClr val="404040"/>
                  </a:solidFill>
                  <a:latin typeface="Fira Sans" pitchFamily="34"/>
                </a:endParaRPr>
              </a:p>
              <a:p>
                <a:pPr marL="0" lvl="0" indent="0">
                  <a:buNone/>
                </a:pPr>
                <a:endParaRPr lang="en-GB" sz="3200" dirty="0">
                  <a:solidFill>
                    <a:srgbClr val="404040"/>
                  </a:solidFill>
                  <a:latin typeface="Fira Sans" pitchFamily="34"/>
                </a:endParaRPr>
              </a:p>
              <a:p>
                <a:pPr marL="0" lvl="0" indent="0">
                  <a:buNone/>
                </a:pPr>
                <a:r>
                  <a:rPr lang="en-GB" sz="3200" dirty="0">
                    <a:solidFill>
                      <a:srgbClr val="404040"/>
                    </a:solidFill>
                    <a:latin typeface="Fira Sans" pitchFamily="34"/>
                  </a:rPr>
                  <a:t>Specify a layer with K </a:t>
                </a:r>
                <a:r>
                  <a:rPr lang="en-GB" sz="3200" i="1" dirty="0">
                    <a:solidFill>
                      <a:srgbClr val="404040"/>
                    </a:solidFill>
                    <a:latin typeface="Fira Sans" pitchFamily="34"/>
                  </a:rPr>
                  <a:t>hidden units</a:t>
                </a:r>
                <a:r>
                  <a:rPr lang="en-GB" sz="3200" b="1" i="1" dirty="0">
                    <a:solidFill>
                      <a:srgbClr val="404040"/>
                    </a:solidFill>
                    <a:latin typeface="Fira Sans" pitchFamily="34"/>
                  </a:rPr>
                  <a:t> </a:t>
                </a:r>
                <a:r>
                  <a:rPr lang="en-GB" sz="3200" dirty="0">
                    <a:solidFill>
                      <a:srgbClr val="404040"/>
                    </a:solidFill>
                    <a:latin typeface="Fira Sans" pitchFamily="34"/>
                  </a:rPr>
                  <a:t>called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404040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GB" sz="3200" i="1" dirty="0">
                  <a:solidFill>
                    <a:srgbClr val="404040"/>
                  </a:solidFill>
                  <a:latin typeface="Fira Sans" pitchFamily="34"/>
                </a:endParaRPr>
              </a:p>
              <a:p>
                <a:pPr marL="0" lvl="0" indent="0">
                  <a:buNone/>
                </a:pPr>
                <a:endParaRPr lang="en-GB" sz="3200" i="1" dirty="0">
                  <a:solidFill>
                    <a:srgbClr val="404040"/>
                  </a:solidFill>
                  <a:latin typeface="Fira Sans" pitchFamily="34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rgbClr val="40404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3200" b="0" i="1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sz="3200" b="0" i="1" smtClean="0">
                          <a:solidFill>
                            <a:srgbClr val="40404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3200" b="0" i="1" smtClean="0">
                          <a:solidFill>
                            <a:srgbClr val="40404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sz="3200" b="0" i="1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5"/>
                            </m:rPr>
                            <a:rPr lang="en-US" sz="3200" b="0" i="1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3200" b="0" i="1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40404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404040"/>
                                  </a:solidFill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40404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40404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40404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40404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3200" dirty="0">
                  <a:solidFill>
                    <a:srgbClr val="404040"/>
                  </a:solidFill>
                  <a:latin typeface="Fira Sans" pitchFamily="34"/>
                </a:endParaRPr>
              </a:p>
              <a:p>
                <a:pPr marL="0" indent="0">
                  <a:buNone/>
                </a:pPr>
                <a:r>
                  <a:rPr lang="en-GB" sz="3200" dirty="0">
                    <a:solidFill>
                      <a:srgbClr val="404040"/>
                    </a:solidFill>
                    <a:latin typeface="Fira Sans" pitchFamily="34"/>
                  </a:rPr>
                  <a:t>Where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3200" b="0" i="1" smtClean="0">
                          <a:solidFill>
                            <a:srgbClr val="40404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3200" b="0" i="1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sz="3200" b="0" i="1" smtClean="0">
                          <a:solidFill>
                            <a:srgbClr val="40404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solidFill>
                            <a:srgbClr val="404040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3200" b="0" i="1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40404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40404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40404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sz="3200" b="0" i="1" smtClean="0">
                                  <a:solidFill>
                                    <a:srgbClr val="40404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  <m:t>+ </m:t>
                          </m:r>
                          <m:nary>
                            <m:naryPr>
                              <m:chr m:val="∑"/>
                              <m:limLoc m:val="subSup"/>
                              <m:ctrlPr>
                                <a:rPr lang="en-US" sz="3200" b="0" i="1" smtClean="0">
                                  <a:solidFill>
                                    <a:srgbClr val="40404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sz="3200" b="0" i="1" smtClean="0">
                                  <a:solidFill>
                                    <a:srgbClr val="40404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sz="3200" b="0" i="1" smtClean="0">
                                  <a:solidFill>
                                    <a:srgbClr val="40404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3200" b="0" i="1" smtClean="0">
                                  <a:solidFill>
                                    <a:srgbClr val="40404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3200" b="0" i="1" smtClean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𝑝𝑘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3200" b="0" i="1" smtClean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en-GB" sz="3200" dirty="0">
                  <a:solidFill>
                    <a:srgbClr val="404040"/>
                  </a:solidFill>
                  <a:latin typeface="Fira Sans" pitchFamily="34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11F9E2-0CED-4424-B61F-ED70164FA75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3" y="1825627"/>
                <a:ext cx="10515600" cy="4667243"/>
              </a:xfrm>
              <a:blipFill>
                <a:blip r:embed="rId2"/>
                <a:stretch>
                  <a:fillRect l="-1507"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236315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Single layer neural networks</a:t>
            </a:r>
            <a:endParaRPr lang="en-GB" sz="1800" kern="0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92908D5-6B6F-41CE-AC3E-E116AC3BEE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51428" y="1825625"/>
            <a:ext cx="4889143" cy="4351338"/>
          </a:xfrm>
        </p:spPr>
      </p:pic>
    </p:spTree>
    <p:extLst>
      <p:ext uri="{BB962C8B-B14F-4D97-AF65-F5344CB8AC3E}">
        <p14:creationId xmlns:p14="http://schemas.microsoft.com/office/powerpoint/2010/main" val="20371672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Single layer neural networks</a:t>
            </a:r>
            <a:endParaRPr lang="en-GB" sz="1800" kern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11F9E2-0CED-4424-B61F-ED70164FA755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838203" y="1825627"/>
                <a:ext cx="10515600" cy="4667243"/>
              </a:xfrm>
            </p:spPr>
            <p:txBody>
              <a:bodyPr>
                <a:normAutofit/>
              </a:bodyPr>
              <a:lstStyle/>
              <a:p>
                <a:r>
                  <a:rPr lang="en-GB" sz="3200" dirty="0">
                    <a:solidFill>
                      <a:srgbClr val="404040"/>
                    </a:solidFill>
                    <a:latin typeface="Fira Sans" pitchFamily="34"/>
                  </a:rPr>
                  <a:t>What about the function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404040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sz="3200" b="0" i="1" smtClean="0">
                            <a:solidFill>
                              <a:srgbClr val="40404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solidFill>
                              <a:srgbClr val="40404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GB" sz="3200" dirty="0">
                    <a:solidFill>
                      <a:srgbClr val="404040"/>
                    </a:solidFill>
                    <a:latin typeface="Fira Sans" pitchFamily="34"/>
                  </a:rPr>
                  <a:t>?</a:t>
                </a:r>
              </a:p>
              <a:p>
                <a:r>
                  <a:rPr lang="en-GB" sz="3200" dirty="0">
                    <a:solidFill>
                      <a:srgbClr val="404040"/>
                    </a:solidFill>
                    <a:latin typeface="Fira Sans" pitchFamily="34"/>
                  </a:rPr>
                  <a:t>This is called the </a:t>
                </a:r>
                <a:r>
                  <a:rPr lang="en-GB" sz="3200" b="1" dirty="0">
                    <a:solidFill>
                      <a:srgbClr val="006388"/>
                    </a:solidFill>
                    <a:latin typeface="Fira Sans" pitchFamily="34"/>
                  </a:rPr>
                  <a:t>activation function</a:t>
                </a:r>
                <a:endParaRPr lang="en-GB" sz="3200" dirty="0">
                  <a:solidFill>
                    <a:srgbClr val="006388"/>
                  </a:solidFill>
                  <a:latin typeface="Fira Sans" pitchFamily="34"/>
                </a:endParaRPr>
              </a:p>
              <a:p>
                <a:r>
                  <a:rPr lang="en-GB" sz="3200" dirty="0">
                    <a:solidFill>
                      <a:srgbClr val="404040"/>
                    </a:solidFill>
                    <a:latin typeface="Fira Sans" pitchFamily="34"/>
                  </a:rPr>
                  <a:t>A transformation of the linear combination of predictors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3200" b="0" i="1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sz="3200" b="0" i="1" smtClean="0">
                          <a:solidFill>
                            <a:srgbClr val="40404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solidFill>
                            <a:srgbClr val="404040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3200" b="0" i="1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40404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40404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40404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sz="3200" b="0" i="1" smtClean="0">
                                  <a:solidFill>
                                    <a:srgbClr val="40404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  <m:t>+ </m:t>
                          </m:r>
                          <m:nary>
                            <m:naryPr>
                              <m:chr m:val="∑"/>
                              <m:limLoc m:val="subSup"/>
                              <m:ctrlPr>
                                <a:rPr lang="en-US" sz="3200" b="0" i="1" smtClean="0">
                                  <a:solidFill>
                                    <a:srgbClr val="40404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sz="3200" b="0" i="1" smtClean="0">
                                  <a:solidFill>
                                    <a:srgbClr val="40404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sz="3200" b="0" i="1" smtClean="0">
                                  <a:solidFill>
                                    <a:srgbClr val="40404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3200" b="0" i="1" smtClean="0">
                                  <a:solidFill>
                                    <a:srgbClr val="40404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3200" b="0" i="1" smtClean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𝑝𝑘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3200" b="0" i="1" smtClean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en-GB" sz="3200" dirty="0">
                  <a:solidFill>
                    <a:srgbClr val="404040"/>
                  </a:solidFill>
                  <a:latin typeface="Fira Sans" pitchFamily="34"/>
                </a:endParaRPr>
              </a:p>
              <a:p>
                <a:pPr marL="0" indent="0">
                  <a:buNone/>
                </a:pPr>
                <a:endParaRPr lang="en-GB" sz="3200" dirty="0">
                  <a:solidFill>
                    <a:srgbClr val="404040"/>
                  </a:solidFill>
                  <a:latin typeface="Fira Sans" pitchFamily="34"/>
                </a:endParaRPr>
              </a:p>
              <a:p>
                <a:pPr marL="0" indent="0">
                  <a:buNone/>
                </a:pPr>
                <a:endParaRPr lang="en-GB" sz="3200" dirty="0">
                  <a:solidFill>
                    <a:srgbClr val="404040"/>
                  </a:solidFill>
                  <a:latin typeface="Fira Sans" pitchFamily="34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11F9E2-0CED-4424-B61F-ED70164FA75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3" y="1825627"/>
                <a:ext cx="10515600" cy="4667243"/>
              </a:xfrm>
              <a:blipFill>
                <a:blip r:embed="rId2"/>
                <a:stretch>
                  <a:fillRect l="-1333" t="-2611"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013854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picture containing red, bright, colorful, tiled&#10;&#10;Description automatically generated">
            <a:extLst>
              <a:ext uri="{FF2B5EF4-FFF2-40B4-BE49-F238E27FC236}">
                <a16:creationId xmlns:a16="http://schemas.microsoft.com/office/drawing/2014/main" id="{A594553A-72A6-444A-9005-83F12D23E3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6" y="4308783"/>
            <a:ext cx="4651589" cy="2325795"/>
          </a:xfrm>
          <a:prstGeom prst="rect">
            <a:avLst/>
          </a:prstGeom>
        </p:spPr>
      </p:pic>
      <p:pic>
        <p:nvPicPr>
          <p:cNvPr id="12" name="Picture 11" descr="Chart, line chart&#10;&#10;Description automatically generated">
            <a:extLst>
              <a:ext uri="{FF2B5EF4-FFF2-40B4-BE49-F238E27FC236}">
                <a16:creationId xmlns:a16="http://schemas.microsoft.com/office/drawing/2014/main" id="{2B1948BD-8D9E-472F-98C7-2385F6D34B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2202" y="1690687"/>
            <a:ext cx="4651595" cy="232579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Activation functions</a:t>
            </a:r>
            <a:endParaRPr lang="en-GB" sz="1800" kern="0" dirty="0"/>
          </a:p>
        </p:txBody>
      </p:sp>
      <p:pic>
        <p:nvPicPr>
          <p:cNvPr id="7" name="Content Placeholder 6" descr="A black and white checkered background&#10;&#10;Description automatically generated with low confidence">
            <a:extLst>
              <a:ext uri="{FF2B5EF4-FFF2-40B4-BE49-F238E27FC236}">
                <a16:creationId xmlns:a16="http://schemas.microsoft.com/office/drawing/2014/main" id="{32849E59-5D85-4FC0-91C9-3A366A476E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7" y="1690688"/>
            <a:ext cx="4651589" cy="2325795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8FBC714-83BF-4158-8C76-22A966F4F593}"/>
                  </a:ext>
                </a:extLst>
              </p:cNvPr>
              <p:cNvSpPr txBox="1"/>
              <p:nvPr/>
            </p:nvSpPr>
            <p:spPr>
              <a:xfrm>
                <a:off x="954438" y="1775693"/>
                <a:ext cx="161986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Linear: </a:t>
                </a:r>
                <a14:m>
                  <m:oMath xmlns:m="http://schemas.openxmlformats.org/officeDocument/2006/math">
                    <m:r>
                      <a:rPr kumimoji="0" lang="en-GB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𝒈</m:t>
                    </m:r>
                    <m:d>
                      <m:dPr>
                        <m:ctrlPr>
                          <a:rPr kumimoji="0" lang="en-GB" sz="1800" b="1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dPr>
                      <m:e>
                        <m:r>
                          <a:rPr kumimoji="0" lang="en-GB" sz="1800" b="1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𝒙</m:t>
                        </m:r>
                      </m:e>
                    </m:d>
                    <m:r>
                      <a:rPr kumimoji="0" lang="en-GB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r>
                      <a:rPr kumimoji="0" lang="en-GB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𝒙</m:t>
                    </m:r>
                  </m:oMath>
                </a14:m>
                <a:endParaRPr kumimoji="0" lang="en-NL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8FBC714-83BF-4158-8C76-22A966F4F5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4438" y="1775693"/>
                <a:ext cx="1619867" cy="276999"/>
              </a:xfrm>
              <a:prstGeom prst="rect">
                <a:avLst/>
              </a:prstGeom>
              <a:blipFill>
                <a:blip r:embed="rId5"/>
                <a:stretch>
                  <a:fillRect l="-9057" t="-28261" r="-3396" b="-50000"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6E9BFDB-24D8-47CA-994A-FAB2D89E9E05}"/>
                  </a:ext>
                </a:extLst>
              </p:cNvPr>
              <p:cNvSpPr txBox="1"/>
              <p:nvPr/>
            </p:nvSpPr>
            <p:spPr>
              <a:xfrm>
                <a:off x="6841211" y="1775693"/>
                <a:ext cx="2170274" cy="4001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Sigmoid: </a:t>
                </a:r>
                <a14:m>
                  <m:oMath xmlns:m="http://schemas.openxmlformats.org/officeDocument/2006/math">
                    <m:r>
                      <a:rPr kumimoji="0" lang="en-GB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𝒈</m:t>
                    </m:r>
                    <m:d>
                      <m:dPr>
                        <m:ctrlPr>
                          <a:rPr kumimoji="0" lang="en-GB" sz="1800" b="1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dPr>
                      <m:e>
                        <m:r>
                          <a:rPr kumimoji="0" lang="en-GB" sz="1800" b="1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𝒙</m:t>
                        </m:r>
                      </m:e>
                    </m:d>
                    <m:r>
                      <a:rPr kumimoji="0" lang="en-GB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f>
                      <m:fPr>
                        <m:ctrlPr>
                          <a:rPr kumimoji="0" lang="en-GB" sz="1800" b="1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GB" sz="1800" b="1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𝟏</m:t>
                        </m:r>
                      </m:num>
                      <m:den>
                        <m:r>
                          <a:rPr kumimoji="0" lang="en-GB" sz="1800" b="1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𝟏</m:t>
                        </m:r>
                        <m:r>
                          <a:rPr kumimoji="0" lang="en-GB" sz="1800" b="1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+</m:t>
                        </m:r>
                        <m:sSup>
                          <m:sSupPr>
                            <m:ctrlPr>
                              <a:rPr kumimoji="0" lang="en-GB" sz="18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pPr>
                          <m:e>
                            <m:r>
                              <a:rPr kumimoji="0" lang="en-GB" sz="18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𝒆</m:t>
                            </m:r>
                          </m:e>
                          <m:sup>
                            <m:r>
                              <a:rPr kumimoji="0" lang="en-GB" sz="18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−</m:t>
                            </m:r>
                            <m:r>
                              <a:rPr kumimoji="0" lang="en-GB" sz="18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𝒙</m:t>
                            </m:r>
                          </m:sup>
                        </m:sSup>
                      </m:den>
                    </m:f>
                  </m:oMath>
                </a14:m>
                <a:endParaRPr kumimoji="0" lang="en-NL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6E9BFDB-24D8-47CA-994A-FAB2D89E9E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1211" y="1775693"/>
                <a:ext cx="2170274" cy="400174"/>
              </a:xfrm>
              <a:prstGeom prst="rect">
                <a:avLst/>
              </a:prstGeom>
              <a:blipFill>
                <a:blip r:embed="rId6"/>
                <a:stretch>
                  <a:fillRect l="-6461" t="-3030" r="-562" b="-21212"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AAC54D4-3D03-46A8-8172-A4FA494D2B09}"/>
                  </a:ext>
                </a:extLst>
              </p:cNvPr>
              <p:cNvSpPr txBox="1"/>
              <p:nvPr/>
            </p:nvSpPr>
            <p:spPr>
              <a:xfrm>
                <a:off x="954438" y="4393788"/>
                <a:ext cx="24019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800" b="1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ReLu</a:t>
                </a:r>
                <a:r>
                  <a:rPr kumimoji="0" lang="en-GB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: </a:t>
                </a:r>
                <a14:m>
                  <m:oMath xmlns:m="http://schemas.openxmlformats.org/officeDocument/2006/math">
                    <m:r>
                      <a:rPr kumimoji="0" lang="en-GB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𝒈</m:t>
                    </m:r>
                    <m:d>
                      <m:dPr>
                        <m:ctrlPr>
                          <a:rPr kumimoji="0" lang="en-GB" sz="1800" b="1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dPr>
                      <m:e>
                        <m:r>
                          <a:rPr kumimoji="0" lang="en-GB" sz="1800" b="1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𝒙</m:t>
                        </m:r>
                      </m:e>
                    </m:d>
                    <m:r>
                      <a:rPr kumimoji="0" lang="en-GB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r>
                      <a:rPr kumimoji="0" lang="en-GB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𝒎𝒂𝒙</m:t>
                    </m:r>
                    <m:r>
                      <a:rPr kumimoji="0" lang="en-GB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(</m:t>
                    </m:r>
                    <m:r>
                      <a:rPr kumimoji="0" lang="en-GB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𝟎</m:t>
                    </m:r>
                    <m:r>
                      <a:rPr kumimoji="0" lang="en-GB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,</m:t>
                    </m:r>
                    <m:r>
                      <a:rPr kumimoji="0" lang="en-GB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𝒙</m:t>
                    </m:r>
                    <m:r>
                      <a:rPr kumimoji="0" lang="en-GB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)</m:t>
                    </m:r>
                  </m:oMath>
                </a14:m>
                <a:endParaRPr kumimoji="0" lang="en-NL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AAC54D4-3D03-46A8-8172-A4FA494D2B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4438" y="4393788"/>
                <a:ext cx="2401940" cy="276999"/>
              </a:xfrm>
              <a:prstGeom prst="rect">
                <a:avLst/>
              </a:prstGeom>
              <a:blipFill>
                <a:blip r:embed="rId7"/>
                <a:stretch>
                  <a:fillRect l="-6091" t="-28889" r="-3807" b="-51111"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CCBEE3E9-63AD-458F-8D04-7A6B220A2961}"/>
              </a:ext>
            </a:extLst>
          </p:cNvPr>
          <p:cNvSpPr txBox="1">
            <a:spLocks/>
          </p:cNvSpPr>
          <p:nvPr/>
        </p:nvSpPr>
        <p:spPr>
          <a:xfrm>
            <a:off x="6702202" y="4308784"/>
            <a:ext cx="4651600" cy="2325794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 fontScale="85000" lnSpcReduction="20000"/>
          </a:bodyPr>
          <a:lstStyle>
            <a:lvl1pPr marL="228600" marR="0" lvl="0" indent="-228600" algn="l" defTabSz="914400" rtl="0" fontAlgn="auto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en-US" sz="2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  <a:lvl2pPr marL="685800" marR="0" lvl="1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2pPr>
            <a:lvl3pPr marL="1143000" marR="0" lvl="2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en-US" sz="20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3pPr>
            <a:lvl4pPr marL="1600200" marR="0" lvl="3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en-US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4pPr>
            <a:lvl5pPr marL="2057400" marR="0" lvl="4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en-US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 pitchFamily="34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ira Sans" pitchFamily="34"/>
                <a:ea typeface="+mn-ea"/>
                <a:cs typeface="+mn-cs"/>
              </a:rPr>
              <a:t>Rectified linear (</a:t>
            </a:r>
            <a:r>
              <a:rPr kumimoji="0" lang="en-GB" sz="3200" b="0" i="0" u="none" strike="noStrike" kern="1200" cap="none" spc="0" normalizeH="0" baseline="0" noProof="0" dirty="0" err="1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ira Sans" pitchFamily="34"/>
                <a:ea typeface="+mn-ea"/>
                <a:cs typeface="+mn-cs"/>
              </a:rPr>
              <a:t>ReLu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ira Sans" pitchFamily="34"/>
                <a:ea typeface="+mn-ea"/>
                <a:cs typeface="+mn-cs"/>
              </a:rPr>
              <a:t>) is most popular nowadays</a:t>
            </a: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 pitchFamily="34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ira Sans" pitchFamily="34"/>
                <a:ea typeface="+mn-ea"/>
                <a:cs typeface="+mn-cs"/>
              </a:rPr>
              <a:t>Nonlinearity necessary! Otherwise: collapse to linear regression</a:t>
            </a:r>
            <a:endParaRPr kumimoji="0" lang="ar-AE" sz="3200" b="0" i="0" u="none" strike="noStrike" kern="1200" cap="none" spc="0" normalizeH="0" baseline="0" noProof="0" dirty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Fira Sans" pitchFamily="34"/>
              <a:ea typeface="+mn-ea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 pitchFamily="34"/>
              <a:buNone/>
              <a:tabLst/>
              <a:defRPr/>
            </a:pPr>
            <a:endParaRPr kumimoji="0" lang="ar-AE" sz="3200" b="0" i="0" u="none" strike="noStrike" kern="1200" cap="none" spc="0" normalizeH="0" baseline="0" noProof="0" dirty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Fira Sans" pitchFamily="34"/>
              <a:ea typeface="+mn-ea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 pitchFamily="34"/>
              <a:buNone/>
              <a:tabLst/>
              <a:defRPr/>
            </a:pPr>
            <a:endParaRPr kumimoji="0" lang="ar-AE" sz="3200" b="0" i="0" u="none" strike="noStrike" kern="1200" cap="none" spc="0" normalizeH="0" baseline="0" noProof="0" dirty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Fira Sans" pitchFamily="34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20731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Single layer neural networks</a:t>
            </a:r>
            <a:endParaRPr lang="en-GB" sz="1800" kern="0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92908D5-6B6F-41CE-AC3E-E116AC3BEE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51428" y="1825625"/>
            <a:ext cx="4889143" cy="4351338"/>
          </a:xfrm>
        </p:spPr>
      </p:pic>
    </p:spTree>
    <p:extLst>
      <p:ext uri="{BB962C8B-B14F-4D97-AF65-F5344CB8AC3E}">
        <p14:creationId xmlns:p14="http://schemas.microsoft.com/office/powerpoint/2010/main" val="21891946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3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C3136-3CE2-4372-9CD9-CAAA784CC7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2766215"/>
            <a:ext cx="10515600" cy="1325559"/>
          </a:xfrm>
        </p:spPr>
        <p:txBody>
          <a:bodyPr anchorCtr="1"/>
          <a:lstStyle/>
          <a:p>
            <a:pPr lvl="0" algn="ctr">
              <a:lnSpc>
                <a:spcPct val="100000"/>
              </a:lnSpc>
            </a:pPr>
            <a:r>
              <a:rPr lang="en-GB" sz="5400" b="1" kern="0" dirty="0">
                <a:solidFill>
                  <a:srgbClr val="FFFFFF"/>
                </a:solidFill>
                <a:latin typeface="Fira Sans" pitchFamily="34"/>
                <a:ea typeface="Fira Code" pitchFamily="49"/>
              </a:rPr>
              <a:t>Feed-forward Neural Networks</a:t>
            </a:r>
            <a:endParaRPr lang="en-GB" sz="1800" kern="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108139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Feed-forward neural networks</a:t>
            </a:r>
            <a:endParaRPr lang="en-GB" sz="1800" kern="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3DE053F-2873-4818-AF69-933CECFE7BBD}"/>
              </a:ext>
            </a:extLst>
          </p:cNvPr>
          <p:cNvSpPr txBox="1"/>
          <p:nvPr/>
        </p:nvSpPr>
        <p:spPr>
          <a:xfrm>
            <a:off x="838197" y="1690688"/>
            <a:ext cx="10515600" cy="4808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Fira Sans" panose="020B0503050000020004" pitchFamily="34" charset="0"/>
                <a:ea typeface="Fira Sans" panose="020B0503050000020004" pitchFamily="34" charset="0"/>
                <a:cs typeface="+mn-cs"/>
              </a:rPr>
              <a:t>We can go deeper</a:t>
            </a:r>
          </a:p>
          <a:p>
            <a:pPr marL="457200" marR="0" lvl="0" indent="-45720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Fira Sans" panose="020B0503050000020004" pitchFamily="34" charset="0"/>
                <a:ea typeface="Fira Sans" panose="020B0503050000020004" pitchFamily="34" charset="0"/>
                <a:cs typeface="+mn-cs"/>
              </a:rPr>
              <a:t>More hidden layers after one another</a:t>
            </a:r>
          </a:p>
          <a:p>
            <a:pPr marL="457200" marR="0" lvl="0" indent="-45720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Fira Sans" panose="020B0503050000020004" pitchFamily="34" charset="0"/>
                <a:ea typeface="Fira Sans" panose="020B0503050000020004" pitchFamily="34" charset="0"/>
                <a:cs typeface="+mn-cs"/>
              </a:rPr>
              <a:t>Higher-order features composed of lower-order features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Fira Sans" panose="020B0503050000020004" pitchFamily="34" charset="0"/>
              <a:ea typeface="Fira Sans" panose="020B0503050000020004" pitchFamily="34" charset="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Fira Sans" panose="020B0503050000020004" pitchFamily="34" charset="0"/>
              <a:ea typeface="Fira Sans" panose="020B0503050000020004" pitchFamily="34" charset="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Fira Sans" panose="020B0503050000020004" pitchFamily="34" charset="0"/>
                <a:ea typeface="Fira Sans" panose="020B0503050000020004" pitchFamily="34" charset="0"/>
                <a:cs typeface="+mn-cs"/>
              </a:rPr>
              <a:t>Universal function approximation theorem, version 2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Fira Sans" panose="020B0503050000020004" pitchFamily="34" charset="0"/>
                <a:ea typeface="Fira Sans" panose="020B0503050000020004" pitchFamily="34" charset="0"/>
                <a:cs typeface="+mn-cs"/>
              </a:rPr>
              <a:t>Any “well-behaved” function can be represented by neural net of sufficient </a:t>
            </a:r>
            <a:r>
              <a:rPr kumimoji="0" lang="en-GB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Fira Sans" panose="020B0503050000020004" pitchFamily="34" charset="0"/>
                <a:ea typeface="Fira Sans" panose="020B0503050000020004" pitchFamily="34" charset="0"/>
                <a:cs typeface="+mn-cs"/>
              </a:rPr>
              <a:t>depth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Fira Sans" panose="020B0503050000020004" pitchFamily="34" charset="0"/>
                <a:ea typeface="Fira Sans" panose="020B0503050000020004" pitchFamily="34" charset="0"/>
                <a:cs typeface="+mn-cs"/>
              </a:rPr>
              <a:t> with nonlinear activation function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Fira Sans" panose="020B0503050000020004" pitchFamily="34" charset="0"/>
              <a:ea typeface="Fira Sans" panose="020B0503050000020004" pitchFamily="34" charset="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Fira Sans" panose="020B0503050000020004" pitchFamily="34" charset="0"/>
                <a:ea typeface="Fira Sans" panose="020B0503050000020004" pitchFamily="34" charset="0"/>
                <a:cs typeface="+mn-cs"/>
              </a:rPr>
              <a:t>(deep neural nets may be more tractable than wide)</a:t>
            </a:r>
          </a:p>
        </p:txBody>
      </p:sp>
    </p:spTree>
    <p:extLst>
      <p:ext uri="{BB962C8B-B14F-4D97-AF65-F5344CB8AC3E}">
        <p14:creationId xmlns:p14="http://schemas.microsoft.com/office/powerpoint/2010/main" val="22855413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Feed-forward neural networks</a:t>
            </a:r>
            <a:endParaRPr lang="en-GB" sz="1800" kern="0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7BFF40F-7343-4248-BD40-3279F69617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36706" y="1825625"/>
            <a:ext cx="4518587" cy="4351338"/>
          </a:xfrm>
        </p:spPr>
      </p:pic>
    </p:spTree>
    <p:extLst>
      <p:ext uri="{BB962C8B-B14F-4D97-AF65-F5344CB8AC3E}">
        <p14:creationId xmlns:p14="http://schemas.microsoft.com/office/powerpoint/2010/main" val="8961267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Feed-forward neural networks</a:t>
            </a:r>
            <a:endParaRPr lang="en-GB" sz="1800" kern="0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92908D5-6B6F-41CE-AC3E-E116AC3BEE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68281" y="1996106"/>
            <a:ext cx="4518588" cy="4351338"/>
          </a:xfr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C89EEB5-32A7-4415-A3D7-D515E20ECFC3}"/>
              </a:ext>
            </a:extLst>
          </p:cNvPr>
          <p:cNvSpPr txBox="1">
            <a:spLocks/>
          </p:cNvSpPr>
          <p:nvPr/>
        </p:nvSpPr>
        <p:spPr>
          <a:xfrm>
            <a:off x="838203" y="1825628"/>
            <a:ext cx="5159641" cy="46672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>
            <a:lvl1pPr marL="228600" marR="0" lvl="0" indent="-228600" algn="l" defTabSz="914400" rtl="0" fontAlgn="auto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en-US" sz="2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  <a:lvl2pPr marL="685800" marR="0" lvl="1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2pPr>
            <a:lvl3pPr marL="1143000" marR="0" lvl="2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en-US" sz="20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3pPr>
            <a:lvl4pPr marL="1600200" marR="0" lvl="3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en-US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4pPr>
            <a:lvl5pPr marL="2057400" marR="0" lvl="4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en-US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 pitchFamily="34"/>
              <a:buNone/>
              <a:tabLst/>
              <a:defRPr/>
            </a:pPr>
            <a:r>
              <a: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ira Sans" pitchFamily="34"/>
                <a:ea typeface="+mn-ea"/>
                <a:cs typeface="+mn-cs"/>
              </a:rPr>
              <a:t>Feed-forward network </a:t>
            </a:r>
            <a:r>
              <a: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006388"/>
                </a:solidFill>
                <a:effectLst/>
                <a:uLnTx/>
                <a:uFillTx/>
                <a:latin typeface="Fira Sans" pitchFamily="34"/>
                <a:ea typeface="+mn-ea"/>
                <a:cs typeface="+mn-cs"/>
              </a:rPr>
              <a:t>architecture</a:t>
            </a:r>
            <a:r>
              <a: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ira Sans" pitchFamily="34"/>
                <a:ea typeface="+mn-ea"/>
                <a:cs typeface="+mn-cs"/>
              </a:rPr>
              <a:t> defined by: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 pitchFamily="34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ira Sans" pitchFamily="34"/>
                <a:ea typeface="+mn-ea"/>
                <a:cs typeface="+mn-cs"/>
              </a:rPr>
              <a:t>Number of layers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 pitchFamily="34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ira Sans" pitchFamily="34"/>
                <a:ea typeface="+mn-ea"/>
                <a:cs typeface="+mn-cs"/>
              </a:rPr>
              <a:t>Number of hidden units in each layer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 pitchFamily="34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ira Sans" pitchFamily="34"/>
                <a:ea typeface="+mn-ea"/>
                <a:cs typeface="+mn-cs"/>
              </a:rPr>
              <a:t>Activation function for each layer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 pitchFamily="34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ira Sans" pitchFamily="34"/>
                <a:ea typeface="+mn-ea"/>
                <a:cs typeface="+mn-cs"/>
              </a:rPr>
              <a:t>Activation function for output layer</a:t>
            </a:r>
            <a:endParaRPr kumimoji="0" lang="ar-AE" sz="3200" b="0" i="0" u="none" strike="noStrike" kern="1200" cap="none" spc="0" normalizeH="0" baseline="0" noProof="0" dirty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Fira Sans" pitchFamily="34"/>
              <a:ea typeface="+mn-ea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 pitchFamily="34"/>
              <a:buNone/>
              <a:tabLst/>
              <a:defRPr/>
            </a:pPr>
            <a:endParaRPr kumimoji="0" lang="ar-AE" sz="3200" b="0" i="0" u="none" strike="noStrike" kern="1200" cap="none" spc="0" normalizeH="0" baseline="0" noProof="0" dirty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Fira Sans" pitchFamily="34"/>
              <a:ea typeface="+mn-ea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 pitchFamily="34"/>
              <a:buNone/>
              <a:tabLst/>
              <a:defRPr/>
            </a:pPr>
            <a:endParaRPr kumimoji="0" lang="ar-AE" sz="3200" b="0" i="0" u="none" strike="noStrike" kern="1200" cap="none" spc="0" normalizeH="0" baseline="0" noProof="0" dirty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Fira Sans" pitchFamily="34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63137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154A1-3211-4218-9AC8-EE38B7D1B1C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 err="1">
                <a:solidFill>
                  <a:srgbClr val="006388"/>
                </a:solidFill>
                <a:latin typeface="Fira Sans" pitchFamily="34"/>
                <a:ea typeface="Fira Code" pitchFamily="49"/>
              </a:rPr>
              <a:t>Keras</a:t>
            </a: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!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CE971F-9A72-4AA1-9D4A-9DAD276968F8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GB" sz="2400" dirty="0">
                <a:solidFill>
                  <a:srgbClr val="404040"/>
                </a:solidFill>
                <a:latin typeface="Fira Code" pitchFamily="49"/>
                <a:ea typeface="Fira Code" pitchFamily="49"/>
              </a:rPr>
              <a:t>import(</a:t>
            </a:r>
            <a:r>
              <a:rPr lang="en-GB" sz="2400" dirty="0" err="1">
                <a:solidFill>
                  <a:srgbClr val="404040"/>
                </a:solidFill>
                <a:latin typeface="Fira Code" pitchFamily="49"/>
                <a:ea typeface="Fira Code" pitchFamily="49"/>
              </a:rPr>
              <a:t>keras</a:t>
            </a:r>
            <a:r>
              <a:rPr lang="en-GB" sz="2400" dirty="0">
                <a:solidFill>
                  <a:srgbClr val="404040"/>
                </a:solidFill>
                <a:latin typeface="Fira Code" pitchFamily="49"/>
                <a:ea typeface="Fira Code" pitchFamily="49"/>
              </a:rPr>
              <a:t>)</a:t>
            </a:r>
            <a:endParaRPr lang="en-GB" sz="2400" dirty="0">
              <a:solidFill>
                <a:srgbClr val="767171"/>
              </a:solidFill>
              <a:latin typeface="Fira Code" pitchFamily="49"/>
              <a:ea typeface="Fira Code" pitchFamily="49"/>
            </a:endParaRPr>
          </a:p>
          <a:p>
            <a:pPr marL="0" lvl="0" indent="0">
              <a:buNone/>
            </a:pPr>
            <a:endParaRPr lang="en-GB" sz="2400" dirty="0">
              <a:solidFill>
                <a:srgbClr val="767171"/>
              </a:solidFill>
              <a:latin typeface="Fira Code" pitchFamily="49"/>
              <a:ea typeface="Fira Code" pitchFamily="49"/>
            </a:endParaRPr>
          </a:p>
          <a:p>
            <a:pPr marL="0" lvl="0" indent="0">
              <a:buNone/>
            </a:pPr>
            <a:r>
              <a:rPr lang="en-GB" sz="2400" dirty="0" err="1">
                <a:solidFill>
                  <a:srgbClr val="404040"/>
                </a:solidFill>
                <a:latin typeface="Fira Code" pitchFamily="49"/>
                <a:ea typeface="Fira Code" pitchFamily="49"/>
              </a:rPr>
              <a:t>model_dff</a:t>
            </a:r>
            <a:r>
              <a:rPr lang="en-GB" sz="2400" dirty="0">
                <a:solidFill>
                  <a:srgbClr val="404040"/>
                </a:solidFill>
                <a:latin typeface="Fira Code" pitchFamily="49"/>
                <a:ea typeface="Fira Code" pitchFamily="49"/>
              </a:rPr>
              <a:t> = </a:t>
            </a:r>
          </a:p>
          <a:p>
            <a:pPr marL="0" lvl="0" indent="0">
              <a:buNone/>
            </a:pPr>
            <a:r>
              <a:rPr lang="en-GB" sz="2400" dirty="0">
                <a:solidFill>
                  <a:srgbClr val="404040"/>
                </a:solidFill>
                <a:latin typeface="Fira Code" pitchFamily="49"/>
                <a:ea typeface="Fira Code" pitchFamily="49"/>
              </a:rPr>
              <a:t>  </a:t>
            </a:r>
            <a:r>
              <a:rPr lang="en-GB" sz="2400" dirty="0" err="1">
                <a:solidFill>
                  <a:srgbClr val="404040"/>
                </a:solidFill>
                <a:latin typeface="Fira Code" pitchFamily="49"/>
                <a:ea typeface="Fira Code" pitchFamily="49"/>
              </a:rPr>
              <a:t>keras_model_sequential</a:t>
            </a:r>
            <a:r>
              <a:rPr lang="en-GB" sz="2400" dirty="0">
                <a:solidFill>
                  <a:srgbClr val="404040"/>
                </a:solidFill>
                <a:latin typeface="Fira Code" pitchFamily="49"/>
                <a:ea typeface="Fira Code" pitchFamily="49"/>
              </a:rPr>
              <a:t>() %&gt;% </a:t>
            </a:r>
          </a:p>
          <a:p>
            <a:pPr marL="0" lvl="0" indent="0">
              <a:buNone/>
            </a:pPr>
            <a:r>
              <a:rPr lang="en-GB" sz="2400" dirty="0">
                <a:solidFill>
                  <a:srgbClr val="404040"/>
                </a:solidFill>
                <a:latin typeface="Fira Code" pitchFamily="49"/>
                <a:ea typeface="Fira Code" pitchFamily="49"/>
              </a:rPr>
              <a:t>  </a:t>
            </a:r>
            <a:r>
              <a:rPr lang="en-GB" sz="2400" dirty="0" err="1">
                <a:solidFill>
                  <a:srgbClr val="404040"/>
                </a:solidFill>
                <a:latin typeface="Fira Code" pitchFamily="49"/>
                <a:ea typeface="Fira Code" pitchFamily="49"/>
              </a:rPr>
              <a:t>layer_flatten</a:t>
            </a:r>
            <a:r>
              <a:rPr lang="en-GB" sz="2400" dirty="0">
                <a:solidFill>
                  <a:srgbClr val="404040"/>
                </a:solidFill>
                <a:latin typeface="Fira Code" pitchFamily="49"/>
                <a:ea typeface="Fira Code" pitchFamily="49"/>
              </a:rPr>
              <a:t>(</a:t>
            </a:r>
            <a:r>
              <a:rPr lang="en-GB" sz="2400" dirty="0" err="1">
                <a:solidFill>
                  <a:srgbClr val="404040"/>
                </a:solidFill>
                <a:latin typeface="Fira Code" pitchFamily="49"/>
                <a:ea typeface="Fira Code" pitchFamily="49"/>
              </a:rPr>
              <a:t>input_shape</a:t>
            </a:r>
            <a:r>
              <a:rPr lang="en-GB" sz="2400" dirty="0">
                <a:solidFill>
                  <a:srgbClr val="404040"/>
                </a:solidFill>
                <a:latin typeface="Fira Code" pitchFamily="49"/>
                <a:ea typeface="Fira Code" pitchFamily="49"/>
              </a:rPr>
              <a:t> = c(28, 28)) %&gt;% </a:t>
            </a:r>
          </a:p>
          <a:p>
            <a:pPr marL="0" lvl="0" indent="0">
              <a:buNone/>
            </a:pPr>
            <a:r>
              <a:rPr lang="en-GB" sz="2400" dirty="0">
                <a:solidFill>
                  <a:srgbClr val="404040"/>
                </a:solidFill>
                <a:latin typeface="Fira Code" pitchFamily="49"/>
                <a:ea typeface="Fira Code" pitchFamily="49"/>
              </a:rPr>
              <a:t>  </a:t>
            </a:r>
            <a:r>
              <a:rPr lang="en-GB" sz="2400" dirty="0" err="1">
                <a:solidFill>
                  <a:srgbClr val="404040"/>
                </a:solidFill>
                <a:latin typeface="Fira Code" pitchFamily="49"/>
                <a:ea typeface="Fira Code" pitchFamily="49"/>
              </a:rPr>
              <a:t>layer_dense</a:t>
            </a:r>
            <a:r>
              <a:rPr lang="en-GB" sz="2400" dirty="0">
                <a:solidFill>
                  <a:srgbClr val="404040"/>
                </a:solidFill>
                <a:latin typeface="Fira Code" pitchFamily="49"/>
                <a:ea typeface="Fira Code" pitchFamily="49"/>
              </a:rPr>
              <a:t>(units = 256, activation = "</a:t>
            </a:r>
            <a:r>
              <a:rPr lang="en-GB" sz="2400" dirty="0" err="1">
                <a:solidFill>
                  <a:srgbClr val="404040"/>
                </a:solidFill>
                <a:latin typeface="Fira Code" pitchFamily="49"/>
                <a:ea typeface="Fira Code" pitchFamily="49"/>
              </a:rPr>
              <a:t>relu</a:t>
            </a:r>
            <a:r>
              <a:rPr lang="en-GB" sz="2400" dirty="0">
                <a:solidFill>
                  <a:srgbClr val="404040"/>
                </a:solidFill>
                <a:latin typeface="Fira Code" pitchFamily="49"/>
                <a:ea typeface="Fira Code" pitchFamily="49"/>
              </a:rPr>
              <a:t>") %&gt;% </a:t>
            </a:r>
          </a:p>
          <a:p>
            <a:pPr marL="0" lvl="0" indent="0">
              <a:buNone/>
            </a:pPr>
            <a:r>
              <a:rPr lang="en-GB" sz="2400" dirty="0">
                <a:solidFill>
                  <a:srgbClr val="404040"/>
                </a:solidFill>
                <a:latin typeface="Fira Code" pitchFamily="49"/>
                <a:ea typeface="Fira Code" pitchFamily="49"/>
              </a:rPr>
              <a:t>  </a:t>
            </a:r>
            <a:r>
              <a:rPr lang="en-GB" sz="2400" dirty="0" err="1">
                <a:solidFill>
                  <a:srgbClr val="404040"/>
                </a:solidFill>
                <a:latin typeface="Fira Code" pitchFamily="49"/>
                <a:ea typeface="Fira Code" pitchFamily="49"/>
              </a:rPr>
              <a:t>layer_dense</a:t>
            </a:r>
            <a:r>
              <a:rPr lang="en-GB" sz="2400" dirty="0">
                <a:solidFill>
                  <a:srgbClr val="404040"/>
                </a:solidFill>
                <a:latin typeface="Fira Code" pitchFamily="49"/>
                <a:ea typeface="Fira Code" pitchFamily="49"/>
              </a:rPr>
              <a:t>(units = 128, activation = "</a:t>
            </a:r>
            <a:r>
              <a:rPr lang="en-GB" sz="2400" dirty="0" err="1">
                <a:solidFill>
                  <a:srgbClr val="404040"/>
                </a:solidFill>
                <a:latin typeface="Fira Code" pitchFamily="49"/>
                <a:ea typeface="Fira Code" pitchFamily="49"/>
              </a:rPr>
              <a:t>relu</a:t>
            </a:r>
            <a:r>
              <a:rPr lang="en-GB" sz="2400" dirty="0">
                <a:solidFill>
                  <a:srgbClr val="404040"/>
                </a:solidFill>
                <a:latin typeface="Fira Code" pitchFamily="49"/>
                <a:ea typeface="Fira Code" pitchFamily="49"/>
              </a:rPr>
              <a:t>") %&gt;% </a:t>
            </a:r>
          </a:p>
          <a:p>
            <a:pPr marL="0" lvl="0" indent="0">
              <a:buNone/>
            </a:pPr>
            <a:r>
              <a:rPr lang="en-GB" sz="2400" dirty="0">
                <a:solidFill>
                  <a:srgbClr val="404040"/>
                </a:solidFill>
                <a:latin typeface="Fira Code" pitchFamily="49"/>
                <a:ea typeface="Fira Code" pitchFamily="49"/>
              </a:rPr>
              <a:t>  </a:t>
            </a:r>
            <a:r>
              <a:rPr lang="en-GB" sz="2400" dirty="0" err="1">
                <a:solidFill>
                  <a:srgbClr val="404040"/>
                </a:solidFill>
                <a:latin typeface="Fira Code" pitchFamily="49"/>
                <a:ea typeface="Fira Code" pitchFamily="49"/>
              </a:rPr>
              <a:t>layer_dense</a:t>
            </a:r>
            <a:r>
              <a:rPr lang="en-GB" sz="2400" dirty="0">
                <a:solidFill>
                  <a:srgbClr val="404040"/>
                </a:solidFill>
                <a:latin typeface="Fira Code" pitchFamily="49"/>
                <a:ea typeface="Fira Code" pitchFamily="49"/>
              </a:rPr>
              <a:t>(10, activation = "</a:t>
            </a:r>
            <a:r>
              <a:rPr lang="en-GB" sz="2400" dirty="0" err="1">
                <a:solidFill>
                  <a:srgbClr val="404040"/>
                </a:solidFill>
                <a:latin typeface="Fira Code" pitchFamily="49"/>
                <a:ea typeface="Fira Code" pitchFamily="49"/>
              </a:rPr>
              <a:t>softmax</a:t>
            </a:r>
            <a:r>
              <a:rPr lang="en-GB" sz="2400" dirty="0">
                <a:solidFill>
                  <a:srgbClr val="404040"/>
                </a:solidFill>
                <a:latin typeface="Fira Code" pitchFamily="49"/>
                <a:ea typeface="Fira Code" pitchFamily="49"/>
              </a:rPr>
              <a:t>")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154A1-3211-4218-9AC8-EE38B7D1B1C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 err="1">
                <a:solidFill>
                  <a:srgbClr val="006388"/>
                </a:solidFill>
                <a:latin typeface="Fira Sans" pitchFamily="34"/>
                <a:ea typeface="Fira Code" pitchFamily="49"/>
              </a:rPr>
              <a:t>Keras</a:t>
            </a: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!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CE971F-9A72-4AA1-9D4A-9DAD276968F8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rmAutofit fontScale="62500" lnSpcReduction="20000"/>
          </a:bodyPr>
          <a:lstStyle/>
          <a:p>
            <a:pPr marL="0" lvl="0" indent="0">
              <a:buNone/>
            </a:pPr>
            <a:r>
              <a:rPr lang="en-GB" sz="2400" dirty="0">
                <a:solidFill>
                  <a:srgbClr val="404040"/>
                </a:solidFill>
                <a:latin typeface="Fira Code" pitchFamily="49"/>
                <a:ea typeface="Fira Code" pitchFamily="49"/>
              </a:rPr>
              <a:t>summary(</a:t>
            </a:r>
            <a:r>
              <a:rPr lang="en-GB" sz="2400" dirty="0" err="1">
                <a:solidFill>
                  <a:srgbClr val="404040"/>
                </a:solidFill>
                <a:latin typeface="Fira Code" pitchFamily="49"/>
                <a:ea typeface="Fira Code" pitchFamily="49"/>
              </a:rPr>
              <a:t>model_dff</a:t>
            </a:r>
            <a:r>
              <a:rPr lang="en-GB" sz="2400" dirty="0">
                <a:solidFill>
                  <a:srgbClr val="404040"/>
                </a:solidFill>
                <a:latin typeface="Fira Code" pitchFamily="49"/>
                <a:ea typeface="Fira Code" pitchFamily="49"/>
              </a:rPr>
              <a:t>)</a:t>
            </a:r>
            <a:endParaRPr lang="en-US" sz="2400" dirty="0">
              <a:solidFill>
                <a:srgbClr val="404040"/>
              </a:solidFill>
              <a:latin typeface="Fira Code" pitchFamily="49"/>
              <a:ea typeface="Fira Code" pitchFamily="49"/>
            </a:endParaRPr>
          </a:p>
          <a:p>
            <a:pPr marL="0" lvl="0" indent="0">
              <a:buNone/>
            </a:pPr>
            <a:endParaRPr lang="en-US" sz="2400" dirty="0">
              <a:solidFill>
                <a:srgbClr val="404040"/>
              </a:solidFill>
              <a:latin typeface="Fira Code" pitchFamily="49"/>
              <a:ea typeface="Fira Code" pitchFamily="49"/>
            </a:endParaRPr>
          </a:p>
          <a:p>
            <a:pPr marL="0" lvl="0" indent="0">
              <a:buNone/>
            </a:pPr>
            <a:r>
              <a:rPr lang="en-US" sz="2400" dirty="0">
                <a:solidFill>
                  <a:srgbClr val="404040"/>
                </a:solidFill>
                <a:latin typeface="Fira Code" pitchFamily="49"/>
                <a:ea typeface="Fira Code" pitchFamily="49"/>
              </a:rPr>
              <a:t>Layer (type)                          Output Shape                       Param #      </a:t>
            </a:r>
          </a:p>
          <a:p>
            <a:pPr marL="0" lvl="0" indent="0">
              <a:buNone/>
            </a:pPr>
            <a:r>
              <a:rPr lang="en-US" sz="2400" dirty="0">
                <a:solidFill>
                  <a:srgbClr val="404040"/>
                </a:solidFill>
                <a:latin typeface="Fira Code" pitchFamily="49"/>
                <a:ea typeface="Fira Code" pitchFamily="49"/>
              </a:rPr>
              <a:t>======================================================================================</a:t>
            </a:r>
          </a:p>
          <a:p>
            <a:pPr marL="0" lvl="0" indent="0">
              <a:buNone/>
            </a:pPr>
            <a:r>
              <a:rPr lang="en-US" sz="2400" dirty="0">
                <a:solidFill>
                  <a:srgbClr val="404040"/>
                </a:solidFill>
                <a:latin typeface="Fira Code" pitchFamily="49"/>
                <a:ea typeface="Fira Code" pitchFamily="49"/>
              </a:rPr>
              <a:t>flatten (Flatten)                     (None, 784)                        0            </a:t>
            </a:r>
          </a:p>
          <a:p>
            <a:pPr marL="0" lvl="0" indent="0">
              <a:buNone/>
            </a:pPr>
            <a:r>
              <a:rPr lang="en-US" sz="2400" dirty="0">
                <a:solidFill>
                  <a:srgbClr val="404040"/>
                </a:solidFill>
                <a:latin typeface="Fira Code" pitchFamily="49"/>
                <a:ea typeface="Fira Code" pitchFamily="49"/>
              </a:rPr>
              <a:t>______________________________________________________________________________________</a:t>
            </a:r>
          </a:p>
          <a:p>
            <a:pPr marL="0" lvl="0" indent="0">
              <a:buNone/>
            </a:pPr>
            <a:r>
              <a:rPr lang="en-US" sz="2400" dirty="0">
                <a:solidFill>
                  <a:srgbClr val="404040"/>
                </a:solidFill>
                <a:latin typeface="Fira Code" pitchFamily="49"/>
                <a:ea typeface="Fira Code" pitchFamily="49"/>
              </a:rPr>
              <a:t>dense_1 (Dense)                       (None, 256)                        200960       </a:t>
            </a:r>
          </a:p>
          <a:p>
            <a:pPr marL="0" lvl="0" indent="0">
              <a:buNone/>
            </a:pPr>
            <a:r>
              <a:rPr lang="en-US" sz="2400" dirty="0">
                <a:solidFill>
                  <a:srgbClr val="404040"/>
                </a:solidFill>
                <a:latin typeface="Fira Code" pitchFamily="49"/>
                <a:ea typeface="Fira Code" pitchFamily="49"/>
              </a:rPr>
              <a:t>______________________________________________________________________________________</a:t>
            </a:r>
          </a:p>
          <a:p>
            <a:pPr marL="0" lvl="0" indent="0">
              <a:buNone/>
            </a:pPr>
            <a:r>
              <a:rPr lang="en-US" sz="2400" dirty="0">
                <a:solidFill>
                  <a:srgbClr val="404040"/>
                </a:solidFill>
                <a:latin typeface="Fira Code" pitchFamily="49"/>
                <a:ea typeface="Fira Code" pitchFamily="49"/>
              </a:rPr>
              <a:t>dense_2 (Dense)                       (None, 128)                        32896        </a:t>
            </a:r>
          </a:p>
          <a:p>
            <a:pPr marL="0" lvl="0" indent="0">
              <a:buNone/>
            </a:pPr>
            <a:r>
              <a:rPr lang="en-US" sz="2400" dirty="0">
                <a:solidFill>
                  <a:srgbClr val="404040"/>
                </a:solidFill>
                <a:latin typeface="Fira Code" pitchFamily="49"/>
                <a:ea typeface="Fira Code" pitchFamily="49"/>
              </a:rPr>
              <a:t>______________________________________________________________________________________</a:t>
            </a:r>
          </a:p>
          <a:p>
            <a:pPr marL="0" lvl="0" indent="0">
              <a:buNone/>
            </a:pPr>
            <a:r>
              <a:rPr lang="en-US" sz="2400" dirty="0">
                <a:solidFill>
                  <a:srgbClr val="404040"/>
                </a:solidFill>
                <a:latin typeface="Fira Code" pitchFamily="49"/>
                <a:ea typeface="Fira Code" pitchFamily="49"/>
              </a:rPr>
              <a:t>dense_3 (Dense)                       (None, 10)                         1290         </a:t>
            </a:r>
          </a:p>
          <a:p>
            <a:pPr marL="0" lvl="0" indent="0">
              <a:buNone/>
            </a:pPr>
            <a:r>
              <a:rPr lang="en-US" sz="2400" dirty="0">
                <a:solidFill>
                  <a:srgbClr val="404040"/>
                </a:solidFill>
                <a:latin typeface="Fira Code" pitchFamily="49"/>
                <a:ea typeface="Fira Code" pitchFamily="49"/>
              </a:rPr>
              <a:t>======================================================================================</a:t>
            </a:r>
          </a:p>
          <a:p>
            <a:pPr marL="0" lvl="0" indent="0">
              <a:buNone/>
            </a:pPr>
            <a:r>
              <a:rPr lang="en-US" sz="2400" dirty="0">
                <a:solidFill>
                  <a:srgbClr val="404040"/>
                </a:solidFill>
                <a:latin typeface="Fira Code" pitchFamily="49"/>
                <a:ea typeface="Fira Code" pitchFamily="49"/>
              </a:rPr>
              <a:t>Total params: 235,146</a:t>
            </a:r>
          </a:p>
          <a:p>
            <a:pPr marL="0" lvl="0" indent="0">
              <a:buNone/>
            </a:pPr>
            <a:r>
              <a:rPr lang="fr-FR" sz="2400" dirty="0" err="1">
                <a:solidFill>
                  <a:srgbClr val="404040"/>
                </a:solidFill>
                <a:latin typeface="Fira Code" pitchFamily="49"/>
                <a:ea typeface="Fira Code" pitchFamily="49"/>
              </a:rPr>
              <a:t>Trainable</a:t>
            </a:r>
            <a:r>
              <a:rPr lang="fr-FR" sz="2400" dirty="0">
                <a:solidFill>
                  <a:srgbClr val="404040"/>
                </a:solidFill>
                <a:latin typeface="Fira Code" pitchFamily="49"/>
                <a:ea typeface="Fira Code" pitchFamily="49"/>
              </a:rPr>
              <a:t> params: 235,146</a:t>
            </a:r>
          </a:p>
          <a:p>
            <a:pPr marL="0" lvl="0" indent="0">
              <a:buNone/>
            </a:pPr>
            <a:r>
              <a:rPr lang="fr-FR" sz="2400" dirty="0">
                <a:solidFill>
                  <a:srgbClr val="404040"/>
                </a:solidFill>
                <a:latin typeface="Fira Code" pitchFamily="49"/>
                <a:ea typeface="Fira Code" pitchFamily="49"/>
              </a:rPr>
              <a:t>Non-</a:t>
            </a:r>
            <a:r>
              <a:rPr lang="fr-FR" sz="2400" dirty="0" err="1">
                <a:solidFill>
                  <a:srgbClr val="404040"/>
                </a:solidFill>
                <a:latin typeface="Fira Code" pitchFamily="49"/>
                <a:ea typeface="Fira Code" pitchFamily="49"/>
              </a:rPr>
              <a:t>trainable</a:t>
            </a:r>
            <a:r>
              <a:rPr lang="fr-FR" sz="2400" dirty="0">
                <a:solidFill>
                  <a:srgbClr val="404040"/>
                </a:solidFill>
                <a:latin typeface="Fira Code" pitchFamily="49"/>
                <a:ea typeface="Fira Code" pitchFamily="49"/>
              </a:rPr>
              <a:t> params: 0</a:t>
            </a:r>
          </a:p>
          <a:p>
            <a:pPr marL="0" lvl="0" indent="0">
              <a:buNone/>
            </a:pPr>
            <a:r>
              <a:rPr lang="fr-FR" sz="2400" dirty="0">
                <a:solidFill>
                  <a:srgbClr val="404040"/>
                </a:solidFill>
                <a:latin typeface="Fira Code" pitchFamily="49"/>
                <a:ea typeface="Fira Code" pitchFamily="49"/>
              </a:rPr>
              <a:t>______________________________________________________________________________________</a:t>
            </a:r>
            <a:endParaRPr lang="en-GB" sz="2400" dirty="0">
              <a:solidFill>
                <a:srgbClr val="404040"/>
              </a:solidFill>
              <a:latin typeface="Fira Code" pitchFamily="49"/>
              <a:ea typeface="Fira Code" pitchFamily="49"/>
            </a:endParaRPr>
          </a:p>
        </p:txBody>
      </p:sp>
    </p:spTree>
    <p:extLst>
      <p:ext uri="{BB962C8B-B14F-4D97-AF65-F5344CB8AC3E}">
        <p14:creationId xmlns:p14="http://schemas.microsoft.com/office/powerpoint/2010/main" val="2913329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3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C3136-3CE2-4372-9CD9-CAAA784CC7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2766215"/>
            <a:ext cx="10515600" cy="1325559"/>
          </a:xfrm>
        </p:spPr>
        <p:txBody>
          <a:bodyPr anchorCtr="1"/>
          <a:lstStyle/>
          <a:p>
            <a:pPr lvl="0" algn="ctr">
              <a:lnSpc>
                <a:spcPct val="100000"/>
              </a:lnSpc>
            </a:pPr>
            <a:r>
              <a:rPr lang="en-GB" sz="5400" b="1" kern="0" dirty="0">
                <a:solidFill>
                  <a:srgbClr val="FFFFFF"/>
                </a:solidFill>
                <a:latin typeface="Fira Sans" pitchFamily="34"/>
                <a:ea typeface="Fira Code" pitchFamily="49"/>
              </a:rPr>
              <a:t>How to estimate parameters?</a:t>
            </a:r>
            <a:endParaRPr lang="en-GB" sz="1800" kern="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23782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Estimating parameters</a:t>
            </a:r>
            <a:endParaRPr lang="en-GB" sz="1800" kern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6D7164-BE9A-41E3-B469-2866919B41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GB" dirty="0">
                <a:latin typeface="Fira Sans" panose="020B0503050000020004" pitchFamily="34" charset="0"/>
                <a:ea typeface="Fira Sans" panose="020B0503050000020004" pitchFamily="34" charset="0"/>
              </a:rPr>
              <a:t>We need some way to measure how well the network does</a:t>
            </a:r>
          </a:p>
          <a:p>
            <a:pPr>
              <a:lnSpc>
                <a:spcPct val="100000"/>
              </a:lnSpc>
            </a:pPr>
            <a:r>
              <a:rPr lang="en-GB" dirty="0">
                <a:latin typeface="Fira Sans" panose="020B0503050000020004" pitchFamily="34" charset="0"/>
                <a:ea typeface="Fira Sans" panose="020B0503050000020004" pitchFamily="34" charset="0"/>
              </a:rPr>
              <a:t>Parameters that make the network perform well are good!</a:t>
            </a:r>
          </a:p>
          <a:p>
            <a:pPr>
              <a:lnSpc>
                <a:spcPct val="100000"/>
              </a:lnSpc>
            </a:pPr>
            <a:endParaRPr lang="en-GB" dirty="0">
              <a:latin typeface="Fira Sans" panose="020B0503050000020004" pitchFamily="34" charset="0"/>
              <a:ea typeface="Fira Sans" panose="020B0503050000020004" pitchFamily="34" charset="0"/>
            </a:endParaRPr>
          </a:p>
          <a:p>
            <a:pPr>
              <a:lnSpc>
                <a:spcPct val="100000"/>
              </a:lnSpc>
            </a:pPr>
            <a:endParaRPr lang="en-GB" dirty="0">
              <a:latin typeface="Fira Sans" panose="020B0503050000020004" pitchFamily="34" charset="0"/>
              <a:ea typeface="Fira Sans" panose="020B05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86922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Loss function</a:t>
            </a:r>
            <a:endParaRPr lang="en-GB" sz="1800" kern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A6D7164-BE9A-41E3-B469-2866919B41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>
                    <a:latin typeface="Fira Sans" panose="020B0503050000020004" pitchFamily="34" charset="0"/>
                    <a:ea typeface="Fira Sans" panose="020B0503050000020004" pitchFamily="34" charset="0"/>
                  </a:rPr>
                  <a:t>For continuous outcomes you can use squared error</a:t>
                </a:r>
                <a:br>
                  <a:rPr lang="en-GB" dirty="0">
                    <a:latin typeface="Fira Sans" panose="020B0503050000020004" pitchFamily="34" charset="0"/>
                    <a:ea typeface="Fira Sans" panose="020B0503050000020004" pitchFamily="34" charset="0"/>
                  </a:rPr>
                </a:br>
                <a:r>
                  <a:rPr lang="en-GB" dirty="0">
                    <a:solidFill>
                      <a:schemeClr val="bg1">
                        <a:lumMod val="75000"/>
                      </a:schemeClr>
                    </a:solidFill>
                    <a:latin typeface="Fira Sans" panose="020B0503050000020004" pitchFamily="34" charset="0"/>
                    <a:ea typeface="Fira Sans" panose="020B0503050000020004" pitchFamily="34" charset="0"/>
                  </a:rPr>
                  <a:t>(same as linear regression!)</a:t>
                </a:r>
                <a:endParaRPr lang="en-GB" i="1" dirty="0">
                  <a:solidFill>
                    <a:schemeClr val="bg1">
                      <a:lumMod val="75000"/>
                    </a:schemeClr>
                  </a:solidFill>
                  <a:latin typeface="Cambria Math" panose="02040503050406030204" pitchFamily="18" charset="0"/>
                  <a:ea typeface="Fira Sans" panose="020B0503050000020004" pitchFamily="34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  <a:ea typeface="Fira Sans" panose="020B0503050000020004" pitchFamily="34" charset="0"/>
                      </a:rPr>
                      <m:t>𝐿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  <a:ea typeface="Fira Sans" panose="020B0503050000020004" pitchFamily="34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  <a:ea typeface="Fira Sans" panose="020B0503050000020004" pitchFamily="34" charset="0"/>
                          </a:rPr>
                          <m:t>𝜃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  <a:ea typeface="Fira Sans" panose="020B0503050000020004" pitchFamily="34" charset="0"/>
                      </a:rPr>
                      <m:t>=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  <a:ea typeface="Fira Sans" panose="020B0503050000020004" pitchFamily="34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Fira Sans" panose="020B0503050000020004" pitchFamily="34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Fira Sans" panose="020B0503050000020004" pitchFamily="34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  <a:ea typeface="Fira Sans" panose="020B0503050000020004" pitchFamily="34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  <a:ea typeface="Fira Sans" panose="020B05030500000200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  <a:ea typeface="Fira Sans" panose="020B0503050000020004" pitchFamily="34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  <a:ea typeface="Fira Sans" panose="020B0503050000020004" pitchFamily="34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Fira Sans" panose="020B0503050000020004" pitchFamily="34" charset="0"/>
                                  </a:rPr>
                                  <m:t>;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Fira Sans" panose="020B0503050000020004" pitchFamily="34" charset="0"/>
                                  </a:rPr>
                                  <m:t>𝜃</m:t>
                                </m:r>
                              </m:e>
                            </m:d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Fira Sans" panose="020B05030500000200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  <a:ea typeface="Fira Sans" panose="020B05030500000200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Fira Sans" panose="020B0503050000020004" pitchFamily="34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Fira Sans" panose="020B0503050000020004" pitchFamily="34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  <a:ea typeface="Fira Sans" panose="020B0503050000020004" pitchFamily="34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GB" dirty="0">
                    <a:latin typeface="Fira Sans" panose="020B0503050000020004" pitchFamily="34" charset="0"/>
                    <a:ea typeface="Fira Sans" panose="020B0503050000020004" pitchFamily="34" charset="0"/>
                  </a:rPr>
                  <a:t> </a:t>
                </a:r>
              </a:p>
              <a:p>
                <a:pPr marL="0" indent="0" algn="ctr">
                  <a:buNone/>
                </a:pPr>
                <a:endParaRPr lang="en-GB" dirty="0">
                  <a:latin typeface="Fira Sans" panose="020B0503050000020004" pitchFamily="34" charset="0"/>
                  <a:ea typeface="Fira Sans" panose="020B0503050000020004" pitchFamily="34" charset="0"/>
                </a:endParaRPr>
              </a:p>
              <a:p>
                <a:r>
                  <a:rPr lang="en-GB" dirty="0">
                    <a:latin typeface="Fira Sans" panose="020B0503050000020004" pitchFamily="34" charset="0"/>
                    <a:ea typeface="Fira Sans" panose="020B0503050000020004" pitchFamily="34" charset="0"/>
                  </a:rPr>
                  <a:t>For binary outcomes you can use binary cross-entropy</a:t>
                </a:r>
                <a:br>
                  <a:rPr lang="en-GB" dirty="0">
                    <a:latin typeface="Fira Sans" panose="020B0503050000020004" pitchFamily="34" charset="0"/>
                    <a:ea typeface="Fira Sans" panose="020B0503050000020004" pitchFamily="34" charset="0"/>
                  </a:rPr>
                </a:br>
                <a:r>
                  <a:rPr lang="en-GB" dirty="0">
                    <a:solidFill>
                      <a:schemeClr val="bg1">
                        <a:lumMod val="75000"/>
                      </a:schemeClr>
                    </a:solidFill>
                    <a:latin typeface="Fira Sans" panose="020B0503050000020004" pitchFamily="34" charset="0"/>
                    <a:ea typeface="Fira Sans" panose="020B0503050000020004" pitchFamily="34" charset="0"/>
                  </a:rPr>
                  <a:t>(same as logistic regression!)</a:t>
                </a:r>
                <a:endParaRPr lang="en-GB" dirty="0">
                  <a:latin typeface="Fira Sans" panose="020B0503050000020004" pitchFamily="34" charset="0"/>
                  <a:ea typeface="Fira Sans" panose="020B0503050000020004" pitchFamily="34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  <a:ea typeface="Fira Sans" panose="020B0503050000020004" pitchFamily="34" charset="0"/>
                        </a:rPr>
                        <m:t>𝐿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  <a:ea typeface="Fira Sans" panose="020B0503050000020004" pitchFamily="34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  <a:ea typeface="Fira Sans" panose="020B0503050000020004" pitchFamily="34" charset="0"/>
                            </a:rPr>
                            <m:t>𝜃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  <a:ea typeface="Fira Sans" panose="020B0503050000020004" pitchFamily="34" charset="0"/>
                        </a:rPr>
                        <m:t>=−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Fira Sans" panose="020B05030500000200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Fira Sans" panose="020B0503050000020004" pitchFamily="34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Fira Sans" panose="020B0503050000020004" pitchFamily="34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Fira Sans" panose="020B0503050000020004" pitchFamily="34" charset="0"/>
                                </a:rPr>
                                <m:t>𝑖</m:t>
                              </m:r>
                            </m:sub>
                          </m:sSub>
                          <m:func>
                            <m:func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Fira Sans" panose="020B0503050000020004" pitchFamily="34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b="0" i="0" smtClean="0">
                                  <a:latin typeface="Cambria Math" panose="02040503050406030204" pitchFamily="18" charset="0"/>
                                  <a:ea typeface="Fira Sans" panose="020B0503050000020004" pitchFamily="34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  <a:ea typeface="Fira Sans" panose="020B0503050000020004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  <a:ea typeface="Fira Sans" panose="020B0503050000020004" pitchFamily="34" charset="0"/>
                                    </a:rPr>
                                    <m:t>𝑓</m:t>
                                  </m:r>
                                  <m:d>
                                    <m:d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  <a:ea typeface="Fira Sans" panose="020B0503050000020004" pitchFamily="34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  <a:ea typeface="Fira Sans" panose="020B0503050000020004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  <a:ea typeface="Fira Sans" panose="020B0503050000020004" pitchFamily="34" charset="0"/>
                                            </a:rPr>
                                            <m:t>𝑋</m:t>
                                          </m:r>
                                        </m:e>
                                        <m:sub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  <a:ea typeface="Fira Sans" panose="020B0503050000020004" pitchFamily="34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  <a:ea typeface="Fira Sans" panose="020B0503050000020004" pitchFamily="34" charset="0"/>
                                        </a:rPr>
                                        <m:t>;</m:t>
                                      </m:r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  <a:ea typeface="Fira Sans" panose="020B0503050000020004" pitchFamily="34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d>
                            </m:e>
                          </m:func>
                          <m:r>
                            <a:rPr lang="en-GB" i="1">
                              <a:latin typeface="Cambria Math" panose="02040503050406030204" pitchFamily="18" charset="0"/>
                              <a:ea typeface="Fira Sans" panose="020B0503050000020004" pitchFamily="34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Fira Sans" panose="020B0503050000020004" pitchFamily="34" charset="0"/>
                                </a:rPr>
                              </m:ctrlPr>
                            </m:d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  <a:ea typeface="Fira Sans" panose="020B0503050000020004" pitchFamily="34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  <a:ea typeface="Fira Sans" panose="020B05030500000200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Fira Sans" panose="020B0503050000020004" pitchFamily="34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Fira Sans" panose="020B0503050000020004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func>
                            <m:funcPr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Fira Sans" panose="020B0503050000020004" pitchFamily="34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>
                                  <a:latin typeface="Cambria Math" panose="02040503050406030204" pitchFamily="18" charset="0"/>
                                  <a:ea typeface="Fira Sans" panose="020B0503050000020004" pitchFamily="34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  <a:ea typeface="Fira Sans" panose="020B0503050000020004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Fira Sans" panose="020B0503050000020004" pitchFamily="34" charset="0"/>
                                    </a:rPr>
                                    <m:t>𝑓</m:t>
                                  </m:r>
                                  <m:d>
                                    <m:d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  <a:ea typeface="Fira Sans" panose="020B0503050000020004" pitchFamily="34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i="1">
                                              <a:latin typeface="Cambria Math" panose="02040503050406030204" pitchFamily="18" charset="0"/>
                                              <a:ea typeface="Fira Sans" panose="020B0503050000020004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  <a:ea typeface="Fira Sans" panose="020B0503050000020004" pitchFamily="34" charset="0"/>
                                            </a:rPr>
                                            <m:t>𝑋</m:t>
                                          </m:r>
                                        </m:e>
                                        <m: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  <a:ea typeface="Fira Sans" panose="020B0503050000020004" pitchFamily="34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  <a:ea typeface="Fira Sans" panose="020B0503050000020004" pitchFamily="34" charset="0"/>
                                        </a:rPr>
                                        <m:t>;</m:t>
                                      </m:r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  <a:ea typeface="Fira Sans" panose="020B0503050000020004" pitchFamily="34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en-GB" dirty="0">
                  <a:latin typeface="Fira Sans" panose="020B0503050000020004" pitchFamily="34" charset="0"/>
                  <a:ea typeface="Fira Sans" panose="020B0503050000020004" pitchFamily="34" charset="0"/>
                </a:endParaRPr>
              </a:p>
              <a:p>
                <a:pPr marL="0" indent="0">
                  <a:buNone/>
                </a:pPr>
                <a:endParaRPr lang="en-GB" dirty="0">
                  <a:latin typeface="Fira Sans" panose="020B0503050000020004" pitchFamily="34" charset="0"/>
                  <a:ea typeface="Fira Sans" panose="020B0503050000020004" pitchFamily="34" charset="0"/>
                </a:endParaRPr>
              </a:p>
              <a:p>
                <a:endParaRPr lang="en-NL" dirty="0">
                  <a:latin typeface="Fira Sans" panose="020B0503050000020004" pitchFamily="34" charset="0"/>
                  <a:ea typeface="Fira Sans" panose="020B0503050000020004" pitchFamily="34" charset="0"/>
                </a:endParaRP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A6D7164-BE9A-41E3-B469-2866919B41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71434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Gradient descent</a:t>
            </a:r>
            <a:endParaRPr lang="en-GB" sz="1800" kern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A6D7164-BE9A-41E3-B469-2866919B41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3" y="1800914"/>
                <a:ext cx="10270521" cy="4351336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lnSpc>
                    <a:spcPct val="100000"/>
                  </a:lnSpc>
                  <a:buNone/>
                </a:pPr>
                <a:r>
                  <a:rPr lang="en-GB" b="1" dirty="0">
                    <a:solidFill>
                      <a:srgbClr val="006388"/>
                    </a:solidFill>
                    <a:latin typeface="Fira Sans" panose="020B0503050000020004" pitchFamily="34" charset="0"/>
                    <a:ea typeface="Fira Sans" panose="020B0503050000020004" pitchFamily="34" charset="0"/>
                  </a:rPr>
                  <a:t>Iteration</a:t>
                </a:r>
                <a:r>
                  <a:rPr lang="en-GB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Fira Sans" panose="020B0503050000020004" pitchFamily="34" charset="0"/>
                    <a:ea typeface="Fira Sans" panose="020B0503050000020004" pitchFamily="34" charset="0"/>
                  </a:rPr>
                  <a:t>: step of size 𝜆 in the direction of the negative gradient</a:t>
                </a:r>
              </a:p>
              <a:p>
                <a:pPr marL="457200" lvl="1" indent="0">
                  <a:lnSpc>
                    <a:spcPct val="100000"/>
                  </a:lnSpc>
                  <a:buNone/>
                </a:pPr>
                <a:endParaRPr lang="en-GB" sz="3200" b="0" i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ambria Math" panose="02040503050406030204" pitchFamily="18" charset="0"/>
                  <a:ea typeface="Fira Sans" panose="020B0503050000020004" pitchFamily="34" charset="0"/>
                </a:endParaRPr>
              </a:p>
              <a:p>
                <a:pPr marL="457200" lvl="1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32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Fira Sans" panose="020B0503050000020004" pitchFamily="34" charset="0"/>
                            </a:rPr>
                          </m:ctrlPr>
                        </m:sSupPr>
                        <m:e>
                          <m:r>
                            <a:rPr lang="en-GB" sz="32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Fira Sans" panose="020B0503050000020004" pitchFamily="34" charset="0"/>
                            </a:rPr>
                            <m:t>𝜃</m:t>
                          </m:r>
                        </m:e>
                        <m:sup>
                          <m:d>
                            <m:dPr>
                              <m:ctrlPr>
                                <a:rPr lang="en-US" sz="32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Fira Sans" panose="020B0503050000020004" pitchFamily="34" charset="0"/>
                                </a:rPr>
                              </m:ctrlPr>
                            </m:dPr>
                            <m:e>
                              <m:r>
                                <a:rPr lang="en-GB" sz="32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Fira Sans" panose="020B0503050000020004" pitchFamily="34" charset="0"/>
                                </a:rPr>
                                <m:t>𝑗</m:t>
                              </m:r>
                              <m:r>
                                <a:rPr lang="en-GB" sz="32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Fira Sans" panose="020B0503050000020004" pitchFamily="34" charset="0"/>
                                </a:rPr>
                                <m:t>+1</m:t>
                              </m:r>
                            </m:e>
                          </m:d>
                        </m:sup>
                      </m:sSup>
                      <m:r>
                        <a:rPr lang="en-GB" sz="32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Fira Sans" panose="020B0503050000020004" pitchFamily="34" charset="0"/>
                        </a:rPr>
                        <m:t>=</m:t>
                      </m:r>
                      <m:sSup>
                        <m:sSupPr>
                          <m:ctrlPr>
                            <a:rPr lang="en-GB" sz="32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Fira Sans" panose="020B0503050000020004" pitchFamily="34" charset="0"/>
                            </a:rPr>
                          </m:ctrlPr>
                        </m:sSupPr>
                        <m:e>
                          <m:r>
                            <a:rPr lang="en-GB" sz="32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Fira Sans" panose="020B0503050000020004" pitchFamily="34" charset="0"/>
                            </a:rPr>
                            <m:t>𝜃</m:t>
                          </m:r>
                        </m:e>
                        <m:sup>
                          <m:d>
                            <m:dPr>
                              <m:ctrlPr>
                                <a:rPr lang="en-US" sz="32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Fira Sans" panose="020B0503050000020004" pitchFamily="34" charset="0"/>
                                </a:rPr>
                              </m:ctrlPr>
                            </m:dPr>
                            <m:e>
                              <m:r>
                                <a:rPr lang="en-GB" sz="32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Fira Sans" panose="020B0503050000020004" pitchFamily="34" charset="0"/>
                                </a:rPr>
                                <m:t>𝑗</m:t>
                              </m:r>
                            </m:e>
                          </m:d>
                        </m:sup>
                      </m:sSup>
                      <m:r>
                        <a:rPr lang="en-GB" sz="32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Fira Sans" panose="020B0503050000020004" pitchFamily="34" charset="0"/>
                        </a:rPr>
                        <m:t>−</m:t>
                      </m:r>
                      <m:r>
                        <a:rPr lang="en-GB" sz="32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Fira Sans" panose="020B0503050000020004" pitchFamily="34" charset="0"/>
                        </a:rPr>
                        <m:t>𝜆</m:t>
                      </m:r>
                      <m:r>
                        <a:rPr lang="en-GB" sz="32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Fira Sans" panose="020B0503050000020004" pitchFamily="34" charset="0"/>
                        </a:rPr>
                        <m:t>⋅</m:t>
                      </m:r>
                      <m:r>
                        <a:rPr lang="en-GB" sz="32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Fira Sans" panose="020B0503050000020004" pitchFamily="34" charset="0"/>
                        </a:rPr>
                        <m:t>𝑔</m:t>
                      </m:r>
                      <m:d>
                        <m:dPr>
                          <m:ctrlPr>
                            <a:rPr lang="en-GB" sz="32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Fira Sans" panose="020B0503050000020004" pitchFamily="34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GB" sz="32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Fira Sans" panose="020B0503050000020004" pitchFamily="34" charset="0"/>
                                </a:rPr>
                              </m:ctrlPr>
                            </m:sSupPr>
                            <m:e>
                              <m:r>
                                <a:rPr lang="en-GB" sz="32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Fira Sans" panose="020B0503050000020004" pitchFamily="34" charset="0"/>
                                </a:rPr>
                                <m:t>𝜃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sz="3200" b="0" i="1" smtClean="0">
                                      <a:solidFill>
                                        <a:schemeClr val="tx1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Fira Sans" panose="020B0503050000020004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3200" b="0" i="1" smtClean="0">
                                      <a:solidFill>
                                        <a:schemeClr val="tx1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Fira Sans" panose="020B0503050000020004" pitchFamily="34" charset="0"/>
                                    </a:rPr>
                                    <m:t>𝑗</m:t>
                                  </m:r>
                                </m:e>
                              </m:d>
                            </m:sup>
                          </m:sSup>
                        </m:e>
                      </m:d>
                    </m:oMath>
                  </m:oMathPara>
                </a14:m>
                <a:endParaRPr lang="en-US" sz="32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Fira Sans" panose="020B0503050000020004" pitchFamily="34" charset="0"/>
                  <a:ea typeface="Fira Sans" panose="020B0503050000020004" pitchFamily="34" charset="0"/>
                </a:endParaRPr>
              </a:p>
              <a:p>
                <a:pPr marL="457200" lvl="1" indent="0">
                  <a:lnSpc>
                    <a:spcPct val="100000"/>
                  </a:lnSpc>
                  <a:buNone/>
                </a:pPr>
                <a:endParaRPr lang="en-GB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Fira Sans" panose="020B0503050000020004" pitchFamily="34" charset="0"/>
                  <a:ea typeface="Fira Sans" panose="020B0503050000020004" pitchFamily="34" charset="0"/>
                </a:endParaRPr>
              </a:p>
              <a:p>
                <a:pPr lvl="0">
                  <a:lnSpc>
                    <a:spcPct val="120000"/>
                  </a:lnSpc>
                </a:pPr>
                <a:r>
                  <a:rPr lang="en-US" dirty="0">
                    <a:solidFill>
                      <a:srgbClr val="404040"/>
                    </a:solidFill>
                    <a:latin typeface="Fira Sans" pitchFamily="34"/>
                  </a:rPr>
                  <a:t>But in neural networks, how do we compute gradients? </a:t>
                </a:r>
              </a:p>
              <a:p>
                <a:pPr lvl="0">
                  <a:lnSpc>
                    <a:spcPct val="120000"/>
                  </a:lnSpc>
                </a:pPr>
                <a:r>
                  <a:rPr lang="en-US" dirty="0">
                    <a:solidFill>
                      <a:srgbClr val="404040"/>
                    </a:solidFill>
                    <a:latin typeface="Fira Sans" pitchFamily="34"/>
                  </a:rPr>
                  <a:t>We have functions of functions!</a:t>
                </a:r>
              </a:p>
              <a:p>
                <a:pPr lvl="0">
                  <a:lnSpc>
                    <a:spcPct val="120000"/>
                  </a:lnSpc>
                </a:pPr>
                <a:r>
                  <a:rPr lang="en-US" dirty="0">
                    <a:solidFill>
                      <a:srgbClr val="404040"/>
                    </a:solidFill>
                    <a:latin typeface="Fira Sans" pitchFamily="34"/>
                  </a:rPr>
                  <a:t>Software like </a:t>
                </a:r>
                <a:r>
                  <a:rPr lang="en-US" dirty="0" err="1">
                    <a:solidFill>
                      <a:srgbClr val="404040"/>
                    </a:solidFill>
                    <a:latin typeface="Fira Sans" pitchFamily="34"/>
                  </a:rPr>
                  <a:t>tensorflow</a:t>
                </a:r>
                <a:r>
                  <a:rPr lang="en-US" dirty="0">
                    <a:solidFill>
                      <a:srgbClr val="404040"/>
                    </a:solidFill>
                    <a:latin typeface="Fira Sans" pitchFamily="34"/>
                  </a:rPr>
                  <a:t> / </a:t>
                </a:r>
                <a:r>
                  <a:rPr lang="en-US" dirty="0" err="1">
                    <a:solidFill>
                      <a:srgbClr val="404040"/>
                    </a:solidFill>
                    <a:latin typeface="Fira Sans" pitchFamily="34"/>
                  </a:rPr>
                  <a:t>Keras</a:t>
                </a:r>
                <a:r>
                  <a:rPr lang="en-US" dirty="0">
                    <a:solidFill>
                      <a:srgbClr val="404040"/>
                    </a:solidFill>
                    <a:latin typeface="Fira Sans" pitchFamily="34"/>
                  </a:rPr>
                  <a:t> / torch does this for you!</a:t>
                </a:r>
              </a:p>
              <a:p>
                <a:pPr lvl="0">
                  <a:lnSpc>
                    <a:spcPct val="120000"/>
                  </a:lnSpc>
                </a:pPr>
                <a:r>
                  <a:rPr lang="en-US" b="1" dirty="0">
                    <a:solidFill>
                      <a:srgbClr val="006388"/>
                    </a:solidFill>
                    <a:latin typeface="Fira Sans" pitchFamily="34"/>
                  </a:rPr>
                  <a:t>Backpropagation</a:t>
                </a:r>
                <a:r>
                  <a:rPr lang="en-US" dirty="0">
                    <a:solidFill>
                      <a:srgbClr val="404040"/>
                    </a:solidFill>
                    <a:latin typeface="Fira Sans" pitchFamily="34"/>
                  </a:rPr>
                  <a:t>: smart repeated use of the </a:t>
                </a:r>
                <a:r>
                  <a:rPr lang="en-US" i="1" dirty="0">
                    <a:solidFill>
                      <a:srgbClr val="404040"/>
                    </a:solidFill>
                    <a:latin typeface="Fira Sans" pitchFamily="34"/>
                  </a:rPr>
                  <a:t>chain rule </a:t>
                </a:r>
                <a:r>
                  <a:rPr lang="en-US" dirty="0">
                    <a:solidFill>
                      <a:srgbClr val="404040"/>
                    </a:solidFill>
                    <a:latin typeface="Fira Sans" pitchFamily="34"/>
                  </a:rPr>
                  <a:t>to compute derivatives</a:t>
                </a:r>
                <a:endParaRPr lang="en-GB" dirty="0">
                  <a:solidFill>
                    <a:srgbClr val="404040"/>
                  </a:solidFill>
                  <a:latin typeface="Fira Sans" pitchFamily="34"/>
                </a:endParaRPr>
              </a:p>
              <a:p>
                <a:pPr marL="457200" lvl="1" indent="0">
                  <a:lnSpc>
                    <a:spcPct val="100000"/>
                  </a:lnSpc>
                  <a:buNone/>
                </a:pPr>
                <a:endParaRPr lang="en-GB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Fira Sans" panose="020B0503050000020004" pitchFamily="34" charset="0"/>
                  <a:ea typeface="Fira Sans" panose="020B0503050000020004" pitchFamily="34" charset="0"/>
                </a:endParaRPr>
              </a:p>
              <a:p>
                <a:pPr marL="457200" lvl="1" indent="0">
                  <a:lnSpc>
                    <a:spcPct val="100000"/>
                  </a:lnSpc>
                  <a:buNone/>
                </a:pPr>
                <a:r>
                  <a:rPr lang="en-GB" dirty="0">
                    <a:latin typeface="Fira Sans" panose="020B0503050000020004" pitchFamily="34" charset="0"/>
                    <a:ea typeface="Fira Sans" panose="020B05030500000200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A6D7164-BE9A-41E3-B469-2866919B41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3" y="1800914"/>
                <a:ext cx="10270521" cy="4351336"/>
              </a:xfrm>
              <a:blipFill>
                <a:blip r:embed="rId2"/>
                <a:stretch>
                  <a:fillRect l="-742" t="-2326"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48794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38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973D4A-2033-4B1B-C813-7E738B149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90DC9-E2F1-0DEC-B7C9-1B936865D7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2766215"/>
            <a:ext cx="10515600" cy="1325559"/>
          </a:xfrm>
        </p:spPr>
        <p:txBody>
          <a:bodyPr anchorCtr="1"/>
          <a:lstStyle/>
          <a:p>
            <a:pPr lvl="0" algn="ctr">
              <a:lnSpc>
                <a:spcPct val="100000"/>
              </a:lnSpc>
            </a:pPr>
            <a:r>
              <a:rPr lang="en-GB" sz="5400" b="1" kern="0" dirty="0">
                <a:solidFill>
                  <a:srgbClr val="FFFFFF"/>
                </a:solidFill>
                <a:latin typeface="Fira Sans" pitchFamily="34"/>
                <a:ea typeface="Fira Code" pitchFamily="49"/>
              </a:rPr>
              <a:t>Break</a:t>
            </a:r>
            <a:endParaRPr lang="en-GB" sz="1800" kern="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84581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3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C3136-3CE2-4372-9CD9-CAAA784CC7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2766215"/>
            <a:ext cx="10515600" cy="1325559"/>
          </a:xfrm>
        </p:spPr>
        <p:txBody>
          <a:bodyPr anchorCtr="1">
            <a:normAutofit fontScale="90000"/>
          </a:bodyPr>
          <a:lstStyle/>
          <a:p>
            <a:pPr lvl="0" algn="ctr">
              <a:lnSpc>
                <a:spcPct val="100000"/>
              </a:lnSpc>
            </a:pPr>
            <a:r>
              <a:rPr lang="en-GB" sz="5400" b="1" kern="0" dirty="0">
                <a:solidFill>
                  <a:srgbClr val="FFFFFF"/>
                </a:solidFill>
                <a:latin typeface="Fira Sans" pitchFamily="34"/>
                <a:ea typeface="Fira Code" pitchFamily="49"/>
              </a:rPr>
              <a:t>Recurrent Neural Network</a:t>
            </a:r>
            <a:br>
              <a:rPr lang="en-GB" sz="5400" b="1" kern="0" dirty="0">
                <a:solidFill>
                  <a:srgbClr val="FFFFFF"/>
                </a:solidFill>
                <a:latin typeface="Fira Sans" pitchFamily="34"/>
                <a:ea typeface="Fira Code" pitchFamily="49"/>
              </a:rPr>
            </a:br>
            <a:r>
              <a:rPr lang="en-GB" sz="5400" b="1" kern="0" dirty="0">
                <a:solidFill>
                  <a:srgbClr val="FFFFFF"/>
                </a:solidFill>
                <a:latin typeface="Fira Sans" pitchFamily="34"/>
                <a:ea typeface="Fira Code" pitchFamily="49"/>
              </a:rPr>
              <a:t>(RNN)</a:t>
            </a:r>
            <a:endParaRPr lang="en-GB" sz="1800" kern="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9934335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>
              <a:lnSpc>
                <a:spcPct val="100000"/>
              </a:lnSpc>
            </a:pPr>
            <a:r>
              <a:rPr kumimoji="0" lang="en-US" sz="4500" b="1" i="0" u="none" strike="noStrike" kern="0" cap="none" spc="0" normalizeH="0" baseline="0" noProof="0" dirty="0">
                <a:ln>
                  <a:noFill/>
                </a:ln>
                <a:solidFill>
                  <a:srgbClr val="006388"/>
                </a:solidFill>
                <a:effectLst/>
                <a:uLnTx/>
                <a:uFillTx/>
                <a:latin typeface="Fira Sans" pitchFamily="34"/>
                <a:ea typeface="Fira Code" pitchFamily="49"/>
              </a:rPr>
              <a:t>Recurrent Neural Network</a:t>
            </a:r>
            <a:endParaRPr lang="en-GB" sz="5400" b="1" kern="0" dirty="0">
              <a:solidFill>
                <a:srgbClr val="006388"/>
              </a:solidFill>
              <a:latin typeface="Fira Sans" pitchFamily="34"/>
              <a:ea typeface="Fira Code" pitchFamily="4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1F9E2-0CED-4424-B61F-ED70164FA755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Another famous architecture of </a:t>
            </a:r>
            <a:r>
              <a:rPr lang="en-US" sz="3200" b="1" dirty="0">
                <a:solidFill>
                  <a:srgbClr val="404040"/>
                </a:solidFill>
                <a:latin typeface="Fira Sans" pitchFamily="34"/>
              </a:rPr>
              <a:t>Deep Learning</a:t>
            </a:r>
          </a:p>
          <a:p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Preferred algorithm for sequential data </a:t>
            </a:r>
          </a:p>
          <a:p>
            <a:pPr lvl="1"/>
            <a:r>
              <a:rPr lang="en-US" sz="2800" dirty="0">
                <a:solidFill>
                  <a:srgbClr val="404040"/>
                </a:solidFill>
                <a:latin typeface="Fira Sans" pitchFamily="34"/>
              </a:rPr>
              <a:t>time series, speech, </a:t>
            </a:r>
            <a:r>
              <a:rPr lang="en-US" sz="2800" b="1" dirty="0">
                <a:solidFill>
                  <a:srgbClr val="404040"/>
                </a:solidFill>
                <a:latin typeface="Fira Sans" pitchFamily="34"/>
              </a:rPr>
              <a:t>text</a:t>
            </a:r>
            <a:r>
              <a:rPr lang="en-US" sz="2800" dirty="0">
                <a:solidFill>
                  <a:srgbClr val="404040"/>
                </a:solidFill>
                <a:latin typeface="Fira Sans" pitchFamily="34"/>
              </a:rPr>
              <a:t>, financial data, audio, video, weather and much more.</a:t>
            </a:r>
          </a:p>
          <a:p>
            <a:pPr lvl="1"/>
            <a:r>
              <a:rPr lang="en-US" sz="2800" b="1" dirty="0">
                <a:solidFill>
                  <a:srgbClr val="404040"/>
                </a:solidFill>
                <a:latin typeface="Fira Sans" pitchFamily="34"/>
              </a:rPr>
              <a:t>text</a:t>
            </a:r>
            <a:r>
              <a:rPr lang="en-US" sz="2800" dirty="0">
                <a:solidFill>
                  <a:srgbClr val="404040"/>
                </a:solidFill>
                <a:latin typeface="Fira Sans" pitchFamily="34"/>
              </a:rPr>
              <a:t>: sentiment analysis, sequence labeling, speech tagging, machine translation, etc.</a:t>
            </a:r>
          </a:p>
          <a:p>
            <a:endParaRPr lang="en-US" sz="3200" dirty="0">
              <a:solidFill>
                <a:srgbClr val="404040"/>
              </a:solidFill>
              <a:latin typeface="Fira Sans" pitchFamily="34"/>
            </a:endParaRPr>
          </a:p>
          <a:p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Maintains </a:t>
            </a:r>
            <a:r>
              <a:rPr lang="en-US" sz="3200" b="1" dirty="0">
                <a:solidFill>
                  <a:srgbClr val="404040"/>
                </a:solidFill>
                <a:latin typeface="Fira Sans" pitchFamily="34"/>
              </a:rPr>
              <a:t>internal memory</a:t>
            </a:r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, thus can remember its previous inputs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6953C4-CF79-4EE5-BD89-6A54363CC316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76619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>
              <a:lnSpc>
                <a:spcPct val="100000"/>
              </a:lnSpc>
            </a:pPr>
            <a:r>
              <a:rPr kumimoji="0" lang="en-US" sz="4500" b="1" i="0" u="none" strike="noStrike" kern="0" cap="none" spc="0" normalizeH="0" baseline="0" noProof="0" dirty="0">
                <a:ln>
                  <a:noFill/>
                </a:ln>
                <a:solidFill>
                  <a:srgbClr val="006388"/>
                </a:solidFill>
                <a:effectLst/>
                <a:uLnTx/>
                <a:uFillTx/>
                <a:latin typeface="Fira Sans" pitchFamily="34"/>
                <a:ea typeface="Fira Code" pitchFamily="49"/>
              </a:rPr>
              <a:t>Simple recurrent network</a:t>
            </a:r>
            <a:endParaRPr lang="en-GB" sz="5400" b="1" kern="0" dirty="0">
              <a:solidFill>
                <a:srgbClr val="006388"/>
              </a:solidFill>
              <a:latin typeface="Fira Sans" pitchFamily="34"/>
              <a:ea typeface="Fira Code" pitchFamily="49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A3D1CA8-DFC8-4990-918D-0801D8EE63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5937" y="1957387"/>
            <a:ext cx="8620125" cy="2943225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3145FB4-A676-478B-BE44-31E1715D4A24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02371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>
              <a:lnSpc>
                <a:spcPct val="100000"/>
              </a:lnSpc>
            </a:pPr>
            <a:r>
              <a:rPr kumimoji="0" lang="en-US" sz="4500" b="1" i="0" u="none" strike="noStrike" kern="0" cap="none" spc="0" normalizeH="0" baseline="0" noProof="0" dirty="0">
                <a:ln>
                  <a:noFill/>
                </a:ln>
                <a:solidFill>
                  <a:srgbClr val="006388"/>
                </a:solidFill>
                <a:effectLst/>
                <a:uLnTx/>
                <a:uFillTx/>
                <a:latin typeface="Fira Sans" pitchFamily="34"/>
                <a:ea typeface="Fira Code" pitchFamily="49"/>
              </a:rPr>
              <a:t>Simple recurrent network</a:t>
            </a:r>
            <a:endParaRPr lang="en-GB" sz="5400" b="1" kern="0" dirty="0">
              <a:solidFill>
                <a:srgbClr val="006388"/>
              </a:solidFill>
              <a:latin typeface="Fira Sans" pitchFamily="34"/>
              <a:ea typeface="Fira Code" pitchFamily="49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A3D1CA8-DFC8-4990-918D-0801D8EE63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4163" y="1688668"/>
            <a:ext cx="6719890" cy="229441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50C724F-86BC-420C-ABBC-A63ACDD285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6549" y="4022124"/>
            <a:ext cx="6719889" cy="2588225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BDA234F-CEDB-451E-A5EE-396B508B0828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4198712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>
              <a:lnSpc>
                <a:spcPct val="100000"/>
              </a:lnSpc>
            </a:pPr>
            <a:r>
              <a:rPr kumimoji="0" lang="en-US" sz="4500" b="1" i="0" u="none" strike="noStrike" kern="0" cap="none" spc="0" normalizeH="0" baseline="0" noProof="0" dirty="0">
                <a:ln>
                  <a:noFill/>
                </a:ln>
                <a:solidFill>
                  <a:srgbClr val="006388"/>
                </a:solidFill>
                <a:effectLst/>
                <a:uLnTx/>
                <a:uFillTx/>
                <a:latin typeface="Fira Sans" pitchFamily="34"/>
                <a:ea typeface="Fira Code" pitchFamily="49"/>
              </a:rPr>
              <a:t>Training RNNs</a:t>
            </a:r>
            <a:endParaRPr lang="en-GB" sz="5400" b="1" kern="0" dirty="0">
              <a:solidFill>
                <a:srgbClr val="006388"/>
              </a:solidFill>
              <a:latin typeface="Fira Sans" pitchFamily="34"/>
              <a:ea typeface="Fira Code" pitchFamily="4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1F9E2-0CED-4424-B61F-ED70164FA755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404040"/>
                </a:solidFill>
                <a:latin typeface="Fira Sans" pitchFamily="34"/>
              </a:rPr>
              <a:t>RNNs can be trained using “backpropagation through time.”</a:t>
            </a:r>
          </a:p>
          <a:p>
            <a:r>
              <a:rPr lang="en-US" dirty="0">
                <a:solidFill>
                  <a:srgbClr val="404040"/>
                </a:solidFill>
                <a:latin typeface="Fira Sans" pitchFamily="34"/>
              </a:rPr>
              <a:t>Can viewed as applying normal backprop to the unrolled network.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41A819-86AF-42A2-9C66-44C0C3A8A2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5100" y="2998784"/>
            <a:ext cx="8467725" cy="362902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9B14FD-B1FF-4B16-B651-AF746B6D45ED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6283220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>
              <a:lnSpc>
                <a:spcPct val="100000"/>
              </a:lnSpc>
            </a:pPr>
            <a:r>
              <a:rPr kumimoji="0" lang="en-US" sz="4500" b="1" i="0" u="none" strike="noStrike" kern="0" cap="none" spc="0" normalizeH="0" baseline="0" noProof="0" dirty="0">
                <a:ln>
                  <a:noFill/>
                </a:ln>
                <a:solidFill>
                  <a:srgbClr val="006388"/>
                </a:solidFill>
                <a:effectLst/>
                <a:uLnTx/>
                <a:uFillTx/>
                <a:latin typeface="Fira Sans" pitchFamily="34"/>
                <a:ea typeface="Fira Code" pitchFamily="49"/>
              </a:rPr>
              <a:t>The problem of Vanishing Gradient</a:t>
            </a:r>
            <a:endParaRPr lang="en-GB" sz="5400" b="1" kern="0" dirty="0">
              <a:solidFill>
                <a:srgbClr val="006388"/>
              </a:solidFill>
              <a:latin typeface="Fira Sans" pitchFamily="34"/>
              <a:ea typeface="Fira Code" pitchFamily="4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1F9E2-0CED-4424-B61F-ED70164FA755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2" y="1825627"/>
            <a:ext cx="10744197" cy="4667243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00000"/>
              </a:lnSpc>
            </a:pPr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Consider a </a:t>
            </a:r>
            <a:r>
              <a:rPr lang="en-US" sz="3200" b="1" dirty="0">
                <a:solidFill>
                  <a:srgbClr val="404040"/>
                </a:solidFill>
                <a:latin typeface="Fira Sans" pitchFamily="34"/>
              </a:rPr>
              <a:t>RNN</a:t>
            </a:r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 model for a </a:t>
            </a:r>
            <a:r>
              <a:rPr lang="en-US" sz="3200" b="1" dirty="0">
                <a:solidFill>
                  <a:srgbClr val="404040"/>
                </a:solidFill>
                <a:latin typeface="Fira Sans" pitchFamily="34"/>
              </a:rPr>
              <a:t>machine translation </a:t>
            </a:r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task from English to Dutch.</a:t>
            </a:r>
          </a:p>
          <a:p>
            <a:pPr>
              <a:lnSpc>
                <a:spcPct val="100000"/>
              </a:lnSpc>
            </a:pPr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It has to read an English sentence</a:t>
            </a:r>
            <a:r>
              <a:rPr lang="en-US" sz="3200" b="1" dirty="0">
                <a:solidFill>
                  <a:srgbClr val="404040"/>
                </a:solidFill>
                <a:latin typeface="Fira Sans" pitchFamily="34"/>
              </a:rPr>
              <a:t>, store as much information as possible</a:t>
            </a:r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 in its hidden activations, and output a Dutch sentence. </a:t>
            </a:r>
          </a:p>
          <a:p>
            <a:pPr>
              <a:lnSpc>
                <a:spcPct val="100000"/>
              </a:lnSpc>
            </a:pPr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The information about the first word in the sentence doesn’t get used in the predictions until it starts generating Dutch words. </a:t>
            </a:r>
          </a:p>
          <a:p>
            <a:pPr>
              <a:lnSpc>
                <a:spcPct val="100000"/>
              </a:lnSpc>
            </a:pPr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There’s </a:t>
            </a:r>
            <a:r>
              <a:rPr lang="en-US" sz="3200" b="1" dirty="0">
                <a:solidFill>
                  <a:srgbClr val="404040"/>
                </a:solidFill>
                <a:latin typeface="Fira Sans" pitchFamily="34"/>
              </a:rPr>
              <a:t>a long temporal gap </a:t>
            </a:r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from when it sees an input to when it uses that to make a prediction. </a:t>
            </a:r>
          </a:p>
          <a:p>
            <a:pPr>
              <a:lnSpc>
                <a:spcPct val="100000"/>
              </a:lnSpc>
            </a:pPr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It can be hard to learn </a:t>
            </a:r>
            <a:r>
              <a:rPr lang="en-US" sz="3200" b="1" dirty="0">
                <a:solidFill>
                  <a:srgbClr val="404040"/>
                </a:solidFill>
                <a:latin typeface="Fira Sans" pitchFamily="34"/>
              </a:rPr>
              <a:t>long-distance dependencies</a:t>
            </a:r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. </a:t>
            </a:r>
          </a:p>
          <a:p>
            <a:pPr>
              <a:lnSpc>
                <a:spcPct val="100000"/>
              </a:lnSpc>
            </a:pPr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In order to adjust the input-to-hidden weights based on the first input, the error signal needs to travel backwards through this entire pathway.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77C1B8-BB53-47AD-BECD-0BCA8A813B48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6373122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3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C3136-3CE2-4372-9CD9-CAAA784CC7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2766215"/>
            <a:ext cx="10515600" cy="1325559"/>
          </a:xfrm>
        </p:spPr>
        <p:txBody>
          <a:bodyPr anchorCtr="1">
            <a:normAutofit fontScale="90000"/>
          </a:bodyPr>
          <a:lstStyle/>
          <a:p>
            <a:pPr lvl="0" algn="ctr">
              <a:lnSpc>
                <a:spcPct val="100000"/>
              </a:lnSpc>
            </a:pPr>
            <a:r>
              <a:rPr lang="en-GB" sz="5400" b="1" kern="0" dirty="0">
                <a:solidFill>
                  <a:srgbClr val="FFFFFF"/>
                </a:solidFill>
                <a:latin typeface="Fira Sans" pitchFamily="34"/>
                <a:ea typeface="Fira Code" pitchFamily="49"/>
              </a:rPr>
              <a:t>Long Short-Term Memory </a:t>
            </a:r>
            <a:br>
              <a:rPr lang="en-GB" sz="5400" b="1" kern="0" dirty="0">
                <a:solidFill>
                  <a:srgbClr val="FFFFFF"/>
                </a:solidFill>
                <a:latin typeface="Fira Sans" pitchFamily="34"/>
                <a:ea typeface="Fira Code" pitchFamily="49"/>
              </a:rPr>
            </a:br>
            <a:r>
              <a:rPr lang="en-GB" sz="5400" b="1" kern="0" dirty="0">
                <a:solidFill>
                  <a:srgbClr val="FFFFFF"/>
                </a:solidFill>
                <a:latin typeface="Fira Sans" pitchFamily="34"/>
                <a:ea typeface="Fira Code" pitchFamily="49"/>
              </a:rPr>
              <a:t>(LSTM)</a:t>
            </a:r>
            <a:endParaRPr lang="en-GB" sz="1800" kern="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5546474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>
              <a:lnSpc>
                <a:spcPct val="100000"/>
              </a:lnSpc>
            </a:pPr>
            <a:r>
              <a:rPr kumimoji="0" lang="en-US" sz="4500" b="1" i="0" u="none" strike="noStrike" kern="0" cap="none" spc="0" normalizeH="0" baseline="0" noProof="0" dirty="0">
                <a:ln>
                  <a:noFill/>
                </a:ln>
                <a:solidFill>
                  <a:srgbClr val="006388"/>
                </a:solidFill>
                <a:effectLst/>
                <a:uLnTx/>
                <a:uFillTx/>
                <a:latin typeface="Fira Sans" pitchFamily="34"/>
                <a:ea typeface="Fira Code" pitchFamily="49"/>
              </a:rPr>
              <a:t>Long Short-Term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1F9E2-0CED-4424-B61F-ED70164FA755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404040"/>
                </a:solidFill>
                <a:latin typeface="Fira Sans" pitchFamily="34"/>
              </a:rPr>
              <a:t>Prevents vanishing/exploding gradient problem by:</a:t>
            </a:r>
          </a:p>
          <a:p>
            <a:pPr lvl="1"/>
            <a:r>
              <a:rPr lang="en-US" dirty="0">
                <a:solidFill>
                  <a:srgbClr val="404040"/>
                </a:solidFill>
                <a:latin typeface="Fira Sans" pitchFamily="34"/>
              </a:rPr>
              <a:t>introducing a gating mechanism</a:t>
            </a:r>
          </a:p>
          <a:p>
            <a:pPr lvl="1"/>
            <a:r>
              <a:rPr lang="en-US" dirty="0">
                <a:solidFill>
                  <a:srgbClr val="404040"/>
                </a:solidFill>
                <a:latin typeface="Fira Sans" pitchFamily="34"/>
              </a:rPr>
              <a:t>turning multiplication into addition</a:t>
            </a:r>
          </a:p>
          <a:p>
            <a:pPr lvl="1"/>
            <a:endParaRPr lang="en-US" dirty="0">
              <a:solidFill>
                <a:srgbClr val="404040"/>
              </a:solidFill>
              <a:latin typeface="Fira Sans" pitchFamily="34"/>
            </a:endParaRPr>
          </a:p>
          <a:p>
            <a:r>
              <a:rPr lang="en-US" dirty="0">
                <a:solidFill>
                  <a:srgbClr val="404040"/>
                </a:solidFill>
                <a:latin typeface="Fira Sans" pitchFamily="34"/>
              </a:rPr>
              <a:t>Designed to make it easy to remember information over long time periods until it’s needed.</a:t>
            </a:r>
          </a:p>
          <a:p>
            <a:endParaRPr lang="en-US" dirty="0">
              <a:solidFill>
                <a:srgbClr val="404040"/>
              </a:solidFill>
              <a:latin typeface="Fira Sans" pitchFamily="34"/>
            </a:endParaRPr>
          </a:p>
          <a:p>
            <a:r>
              <a:rPr lang="en-US" dirty="0">
                <a:solidFill>
                  <a:srgbClr val="404040"/>
                </a:solidFill>
                <a:latin typeface="Fira Sans" pitchFamily="34"/>
              </a:rPr>
              <a:t>The activations of a network correspond to short-term memory, while the weights correspond to long-term memory.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4F65BF-95AC-4A4C-81EA-7270F7F07BEE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8150817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>
              <a:lnSpc>
                <a:spcPct val="100000"/>
              </a:lnSpc>
            </a:pPr>
            <a:r>
              <a:rPr kumimoji="0" lang="en-US" sz="4500" b="1" i="0" u="none" strike="noStrike" kern="0" cap="none" spc="0" normalizeH="0" baseline="0" noProof="0" dirty="0">
                <a:ln>
                  <a:noFill/>
                </a:ln>
                <a:solidFill>
                  <a:srgbClr val="006388"/>
                </a:solidFill>
                <a:effectLst/>
                <a:uLnTx/>
                <a:uFillTx/>
                <a:latin typeface="Fira Sans" pitchFamily="34"/>
                <a:ea typeface="Fira Code" pitchFamily="49"/>
              </a:rPr>
              <a:t>LSTM architecture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359697-68D6-4537-8DB9-620BA85FF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0917" y="1505799"/>
            <a:ext cx="8538509" cy="493734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54E6F3A-622E-4F27-A622-0ADDD1ADF535}"/>
              </a:ext>
            </a:extLst>
          </p:cNvPr>
          <p:cNvSpPr txBox="1"/>
          <p:nvPr/>
        </p:nvSpPr>
        <p:spPr>
          <a:xfrm>
            <a:off x="342894" y="6443143"/>
            <a:ext cx="6096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3"/>
              </a:rPr>
              <a:t>https://colah.github.io/posts/2015-08-Understanding-LSTMs/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F839E1A-B9A0-47D5-B49D-AE44CFD04C44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8773912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>
              <a:lnSpc>
                <a:spcPct val="100000"/>
              </a:lnSpc>
            </a:pPr>
            <a:r>
              <a:rPr kumimoji="0" lang="en-US" sz="4500" b="1" i="0" u="none" strike="noStrike" kern="0" cap="none" spc="0" normalizeH="0" baseline="0" noProof="0" dirty="0">
                <a:ln>
                  <a:noFill/>
                </a:ln>
                <a:solidFill>
                  <a:srgbClr val="006388"/>
                </a:solidFill>
                <a:effectLst/>
                <a:uLnTx/>
                <a:uFillTx/>
                <a:latin typeface="Fira Sans" pitchFamily="34"/>
                <a:ea typeface="Fira Code" pitchFamily="49"/>
              </a:rPr>
              <a:t>Extensions</a:t>
            </a:r>
            <a:endParaRPr lang="en-GB" sz="5400" b="1" kern="0" dirty="0">
              <a:solidFill>
                <a:srgbClr val="006388"/>
              </a:solidFill>
              <a:latin typeface="Fira Sans" pitchFamily="34"/>
              <a:ea typeface="Fira Code" pitchFamily="4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1F9E2-0CED-4424-B61F-ED70164FA755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404040"/>
                </a:solidFill>
                <a:latin typeface="Fira Sans" pitchFamily="34"/>
              </a:rPr>
              <a:t>Bi-directional</a:t>
            </a:r>
            <a:r>
              <a:rPr lang="en-US" dirty="0">
                <a:solidFill>
                  <a:srgbClr val="404040"/>
                </a:solidFill>
                <a:latin typeface="Fira Sans" pitchFamily="34"/>
              </a:rPr>
              <a:t> network: separate LSTMs process forward and backward sequences, and hidden layers at each time step are concatenated to form the cell output.</a:t>
            </a:r>
          </a:p>
          <a:p>
            <a:r>
              <a:rPr lang="en-US" b="1" dirty="0">
                <a:solidFill>
                  <a:srgbClr val="404040"/>
                </a:solidFill>
                <a:latin typeface="Fira Sans" pitchFamily="34"/>
              </a:rPr>
              <a:t>Gated Recurrent Unit (GRU): </a:t>
            </a:r>
            <a:r>
              <a:rPr lang="en-US" dirty="0">
                <a:solidFill>
                  <a:srgbClr val="404040"/>
                </a:solidFill>
                <a:latin typeface="Fira Sans" pitchFamily="34"/>
              </a:rPr>
              <a:t>alternative RNN to LSTM that uses fewer gates, combines forget and input gates into “update” gate, eliminates cell state vector.</a:t>
            </a:r>
          </a:p>
          <a:p>
            <a:r>
              <a:rPr lang="en-US" b="1" dirty="0">
                <a:solidFill>
                  <a:srgbClr val="404040"/>
                </a:solidFill>
                <a:latin typeface="Fira Sans" pitchFamily="34"/>
              </a:rPr>
              <a:t>Attention: </a:t>
            </a:r>
            <a:r>
              <a:rPr lang="en-US" dirty="0">
                <a:solidFill>
                  <a:srgbClr val="404040"/>
                </a:solidFill>
                <a:latin typeface="Fira Sans" pitchFamily="34"/>
              </a:rPr>
              <a:t>Allows network to learn to attend to different parts of the input at different time steps, shifting its attention to focus on different aspects during its processing.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921116-222E-4823-8B8F-3CB3810DE629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7714796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State-of-the-Art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1F9E2-0CED-4424-B61F-ED70164FA755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/>
          <a:lstStyle/>
          <a:p>
            <a:pPr lvl="0"/>
            <a:r>
              <a:rPr lang="en-GB" sz="3200" dirty="0">
                <a:solidFill>
                  <a:srgbClr val="404040"/>
                </a:solidFill>
                <a:latin typeface="Fira Sans" pitchFamily="34"/>
              </a:rPr>
              <a:t>Recurrent neural networks</a:t>
            </a:r>
          </a:p>
          <a:p>
            <a:pPr lvl="1"/>
            <a:r>
              <a:rPr lang="en-GB" sz="2800" dirty="0">
                <a:solidFill>
                  <a:srgbClr val="404040"/>
                </a:solidFill>
                <a:latin typeface="Fira Sans" pitchFamily="34"/>
              </a:rPr>
              <a:t>LSTM</a:t>
            </a:r>
          </a:p>
          <a:p>
            <a:pPr lvl="1"/>
            <a:r>
              <a:rPr lang="en-GB" sz="2800" dirty="0">
                <a:solidFill>
                  <a:srgbClr val="404040"/>
                </a:solidFill>
                <a:latin typeface="Fira Sans" pitchFamily="34"/>
              </a:rPr>
              <a:t>GRU</a:t>
            </a:r>
          </a:p>
          <a:p>
            <a:pPr lvl="1"/>
            <a:r>
              <a:rPr lang="en-GB" sz="2800" dirty="0">
                <a:solidFill>
                  <a:srgbClr val="404040"/>
                </a:solidFill>
                <a:latin typeface="Fira Sans" pitchFamily="34"/>
              </a:rPr>
              <a:t>Bi-directional network</a:t>
            </a:r>
          </a:p>
          <a:p>
            <a:pPr lvl="0"/>
            <a:r>
              <a:rPr lang="en-GB" sz="3200" dirty="0">
                <a:solidFill>
                  <a:srgbClr val="404040"/>
                </a:solidFill>
                <a:latin typeface="Fira Sans" pitchFamily="34"/>
              </a:rPr>
              <a:t>Transformers</a:t>
            </a:r>
          </a:p>
          <a:p>
            <a:pPr lvl="0"/>
            <a:r>
              <a:rPr lang="en-GB" sz="3200" dirty="0">
                <a:solidFill>
                  <a:srgbClr val="404040"/>
                </a:solidFill>
                <a:latin typeface="Fira Sans" pitchFamily="34"/>
              </a:rPr>
              <a:t>Contextual embeddings</a:t>
            </a:r>
          </a:p>
          <a:p>
            <a:pPr lvl="0"/>
            <a:r>
              <a:rPr lang="en-GB" sz="3200" dirty="0">
                <a:solidFill>
                  <a:srgbClr val="404040"/>
                </a:solidFill>
                <a:latin typeface="Fira Sans" pitchFamily="34"/>
              </a:rPr>
              <a:t>Large Language Models (LLMs) --&gt; GPT, QWEN, MISTRAL, DEEPSEEK, …</a:t>
            </a:r>
          </a:p>
          <a:p>
            <a:pPr lvl="0"/>
            <a:endParaRPr lang="en-GB" sz="3200" dirty="0">
              <a:solidFill>
                <a:srgbClr val="404040"/>
              </a:solidFill>
              <a:latin typeface="Fira Sans" pitchFamily="34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B7F3CD-A206-4A1B-BDB0-FCEAAE3DD34E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229C6A3C-F0DE-4587-B6A6-8E7EE78CBA88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87791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chemeClr val="accent6"/>
                </a:solidFill>
                <a:latin typeface="Fira Sans" pitchFamily="34"/>
                <a:ea typeface="Fira Code" pitchFamily="49"/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1F9E2-0CED-4424-B61F-ED70164FA755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rmAutofit/>
          </a:bodyPr>
          <a:lstStyle/>
          <a:p>
            <a:pPr lvl="0"/>
            <a:r>
              <a:rPr lang="en-GB" sz="3200" dirty="0">
                <a:solidFill>
                  <a:srgbClr val="404040"/>
                </a:solidFill>
                <a:latin typeface="Fira Sans" pitchFamily="34"/>
              </a:rPr>
              <a:t>Neural networks are popular methods especially for text mining</a:t>
            </a:r>
          </a:p>
          <a:p>
            <a:pPr lvl="0"/>
            <a:r>
              <a:rPr lang="en-GB" sz="3200" dirty="0">
                <a:solidFill>
                  <a:srgbClr val="404040"/>
                </a:solidFill>
                <a:latin typeface="Fira Sans" pitchFamily="34"/>
              </a:rPr>
              <a:t>Feed-forward &amp; RNN &amp; CNN (afternoon)</a:t>
            </a:r>
          </a:p>
          <a:p>
            <a:pPr lvl="0"/>
            <a:r>
              <a:rPr lang="en-GB" sz="3200" dirty="0">
                <a:solidFill>
                  <a:srgbClr val="404040"/>
                </a:solidFill>
                <a:latin typeface="Fira Sans" pitchFamily="34"/>
              </a:rPr>
              <a:t>RNN works better for text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050287-4A27-40E6-8622-7DD33A581F2B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9733956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39A0E-8C39-4822-9891-AC1B2E10B52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1798551"/>
            <a:ext cx="10515600" cy="1325559"/>
          </a:xfrm>
        </p:spPr>
        <p:txBody>
          <a:bodyPr anchor="b">
            <a:noAutofit/>
          </a:bodyPr>
          <a:lstStyle/>
          <a:p>
            <a:pPr lvl="0">
              <a:lnSpc>
                <a:spcPct val="100000"/>
              </a:lnSpc>
            </a:pPr>
            <a:r>
              <a:rPr lang="en-GB" sz="4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Practical 7</a:t>
            </a:r>
            <a:endParaRPr lang="en-GB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3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444D2-268D-4B0D-A054-F46B0FD616D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2766215"/>
            <a:ext cx="10515600" cy="1325559"/>
          </a:xfrm>
        </p:spPr>
        <p:txBody>
          <a:bodyPr anchorCtr="1"/>
          <a:lstStyle/>
          <a:p>
            <a:pPr lvl="0" algn="ctr">
              <a:lnSpc>
                <a:spcPct val="100000"/>
              </a:lnSpc>
            </a:pPr>
            <a:r>
              <a:rPr lang="en-GB" sz="5400" b="1" kern="0">
                <a:solidFill>
                  <a:srgbClr val="FFFFFF"/>
                </a:solidFill>
                <a:latin typeface="Fira Sans" pitchFamily="34"/>
                <a:ea typeface="Fira Code" pitchFamily="49"/>
              </a:rPr>
              <a:t>Questions?</a:t>
            </a:r>
            <a:endParaRPr lang="en-GB" sz="1800" kern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1780</TotalTime>
  <Words>1188</Words>
  <Application>Microsoft Macintosh PowerPoint</Application>
  <PresentationFormat>Widescreen</PresentationFormat>
  <Paragraphs>199</Paragraphs>
  <Slides>44</Slides>
  <Notes>2</Notes>
  <HiddenSlides>0</HiddenSlides>
  <MMClips>1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44</vt:i4>
      </vt:variant>
    </vt:vector>
  </HeadingPairs>
  <TitlesOfParts>
    <vt:vector size="54" baseType="lpstr">
      <vt:lpstr>Calibri Light</vt:lpstr>
      <vt:lpstr>Calibri</vt:lpstr>
      <vt:lpstr>Cambria Math</vt:lpstr>
      <vt:lpstr>Arial</vt:lpstr>
      <vt:lpstr>plusjakartasans</vt:lpstr>
      <vt:lpstr>Fira Code</vt:lpstr>
      <vt:lpstr>Fira Sans</vt:lpstr>
      <vt:lpstr>Office Theme</vt:lpstr>
      <vt:lpstr>1_Office Theme</vt:lpstr>
      <vt:lpstr>2_Office Theme</vt:lpstr>
      <vt:lpstr>PowerPoint Presentation</vt:lpstr>
      <vt:lpstr>This lecture</vt:lpstr>
      <vt:lpstr>Text mining process</vt:lpstr>
      <vt:lpstr>Introduction</vt:lpstr>
      <vt:lpstr>Why should we learn this?</vt:lpstr>
      <vt:lpstr>PowerPoint Presentation</vt:lpstr>
      <vt:lpstr>PowerPoint Presentation</vt:lpstr>
      <vt:lpstr>PowerPoint Presentation</vt:lpstr>
      <vt:lpstr>“Hello world” of neural networks</vt:lpstr>
      <vt:lpstr>“Hello world” of neural networks for text: Sentiment classification with LSTM</vt:lpstr>
      <vt:lpstr>So what is a neural network?</vt:lpstr>
      <vt:lpstr>Neural networks</vt:lpstr>
      <vt:lpstr>Linear regression as neural net</vt:lpstr>
      <vt:lpstr>Linear regression as neural net</vt:lpstr>
      <vt:lpstr>Single layer neural networks</vt:lpstr>
      <vt:lpstr>Single layer neural networks</vt:lpstr>
      <vt:lpstr>Single layer neural networks</vt:lpstr>
      <vt:lpstr>Activation functions</vt:lpstr>
      <vt:lpstr>Single layer neural networks</vt:lpstr>
      <vt:lpstr>Feed-forward Neural Networks</vt:lpstr>
      <vt:lpstr>Feed-forward neural networks</vt:lpstr>
      <vt:lpstr>Feed-forward neural networks</vt:lpstr>
      <vt:lpstr>Feed-forward neural networks</vt:lpstr>
      <vt:lpstr>Keras!</vt:lpstr>
      <vt:lpstr>Keras!</vt:lpstr>
      <vt:lpstr>How to estimate parameters?</vt:lpstr>
      <vt:lpstr>Estimating parameters</vt:lpstr>
      <vt:lpstr>Loss function</vt:lpstr>
      <vt:lpstr>Gradient descent</vt:lpstr>
      <vt:lpstr>Break</vt:lpstr>
      <vt:lpstr>Recurrent Neural Network (RNN)</vt:lpstr>
      <vt:lpstr>Recurrent Neural Network</vt:lpstr>
      <vt:lpstr>Simple recurrent network</vt:lpstr>
      <vt:lpstr>Simple recurrent network</vt:lpstr>
      <vt:lpstr>Training RNNs</vt:lpstr>
      <vt:lpstr>The problem of Vanishing Gradient</vt:lpstr>
      <vt:lpstr>Long Short-Term Memory  (LSTM)</vt:lpstr>
      <vt:lpstr>Long Short-Term Memory</vt:lpstr>
      <vt:lpstr>LSTM architecture</vt:lpstr>
      <vt:lpstr>Extensions</vt:lpstr>
      <vt:lpstr>State-of-the-Art</vt:lpstr>
      <vt:lpstr>Conclusion</vt:lpstr>
      <vt:lpstr>Practical 7</vt:lpstr>
      <vt:lpstr>Questions?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Ayoub Bagheri</dc:creator>
  <cp:keywords/>
  <dc:description/>
  <cp:lastModifiedBy>Bagheri, A. (Robert)</cp:lastModifiedBy>
  <cp:revision>103</cp:revision>
  <dcterms:created xsi:type="dcterms:W3CDTF">2020-09-17T14:27:00Z</dcterms:created>
  <dcterms:modified xsi:type="dcterms:W3CDTF">2026-07-16T14:00:51Z</dcterms:modified>
  <cp:category/>
</cp:coreProperties>
</file>